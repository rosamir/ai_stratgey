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  <p:sldMasterId id="2147483650" r:id="rId2"/>
  </p:sldMasterIdLst>
  <p:notesMasterIdLst>
    <p:notesMasterId r:id="rId12"/>
  </p:notesMasterIdLst>
  <p:sldIdLst>
    <p:sldId id="27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8" r:id="rId11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30"/>
  </p:normalViewPr>
  <p:slideViewPr>
    <p:cSldViewPr snapToGrid="0">
      <p:cViewPr varScale="1">
        <p:scale>
          <a:sx n="85" d="100"/>
          <a:sy n="85" d="100"/>
        </p:scale>
        <p:origin x="208" y="7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914400"/>
            <a:ext cx="4572225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635000" y="914400"/>
            <a:ext cx="8128000" cy="4572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g3b6165cee18_2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" name="Google Shape;20;g3b6165cee18_2_9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b6165cee18_2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g3b6165cee18_2_79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6165cee18_2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6165cee18_2_118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b6165cee18_2_1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b6165cee18_2_173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b6165cee18_2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b6165cee18_2_136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b6165cee18_2_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914400"/>
            <a:ext cx="45723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b6165cee18_2_155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b6165cee18_2_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b6165cee18_2_161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6165cee18_2_2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914400"/>
            <a:ext cx="45723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b6165cee18_2_216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title"/>
          </p:nvPr>
        </p:nvSpPr>
        <p:spPr>
          <a:xfrm>
            <a:off x="866000" y="193228"/>
            <a:ext cx="10935300" cy="864300"/>
          </a:xfrm>
          <a:prstGeom prst="rect">
            <a:avLst/>
          </a:prstGeom>
          <a:effectLst>
            <a:outerShdw blurRad="114300" algn="bl" rotWithShape="0">
              <a:schemeClr val="lt1">
                <a:alpha val="0"/>
              </a:scheme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1"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4000"/>
              <a:buNone/>
              <a:defRPr sz="4000">
                <a:solidFill>
                  <a:srgbClr val="07376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body" idx="1"/>
          </p:nvPr>
        </p:nvSpPr>
        <p:spPr>
          <a:xfrm>
            <a:off x="866000" y="1170259"/>
            <a:ext cx="10935300" cy="5617800"/>
          </a:xfrm>
          <a:prstGeom prst="rect">
            <a:avLst/>
          </a:prstGeom>
          <a:effectLst>
            <a:outerShdw blurRad="114300" algn="bl" rotWithShape="0">
              <a:schemeClr val="lt1">
                <a:alpha val="0"/>
              </a:scheme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38150" rtl="1"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3300"/>
              <a:buChar char="●"/>
              <a:defRPr sz="3300">
                <a:solidFill>
                  <a:srgbClr val="073763"/>
                </a:solidFill>
              </a:defRPr>
            </a:lvl1pPr>
            <a:lvl2pPr marL="914400" lvl="1" indent="-438150" rtl="1"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3300"/>
              <a:buChar char="○"/>
              <a:defRPr sz="3300">
                <a:solidFill>
                  <a:srgbClr val="073763"/>
                </a:solidFill>
              </a:defRPr>
            </a:lvl2pPr>
            <a:lvl3pPr marL="1371600" lvl="2" indent="-438150" rtl="1"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3300"/>
              <a:buChar char="■"/>
              <a:defRPr sz="3300">
                <a:solidFill>
                  <a:srgbClr val="073763"/>
                </a:solidFill>
              </a:defRPr>
            </a:lvl3pPr>
            <a:lvl4pPr marL="1828800" lvl="3" indent="-438150" rtl="1"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3300"/>
              <a:buChar char="●"/>
              <a:defRPr sz="3300">
                <a:solidFill>
                  <a:srgbClr val="073763"/>
                </a:solidFill>
              </a:defRPr>
            </a:lvl4pPr>
            <a:lvl5pPr marL="2286000" lvl="4" indent="-438150" rtl="1"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3300"/>
              <a:buChar char="○"/>
              <a:defRPr sz="3300">
                <a:solidFill>
                  <a:srgbClr val="073763"/>
                </a:solidFill>
              </a:defRPr>
            </a:lvl5pPr>
            <a:lvl6pPr marL="2743200" lvl="5" indent="-438150" rtl="1"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3300"/>
              <a:buChar char="■"/>
              <a:defRPr sz="3300">
                <a:solidFill>
                  <a:srgbClr val="073763"/>
                </a:solidFill>
              </a:defRPr>
            </a:lvl6pPr>
            <a:lvl7pPr marL="3200400" lvl="6" indent="-438150" rtl="1"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3300"/>
              <a:buChar char="●"/>
              <a:defRPr sz="3300">
                <a:solidFill>
                  <a:srgbClr val="073763"/>
                </a:solidFill>
              </a:defRPr>
            </a:lvl7pPr>
            <a:lvl8pPr marL="3657600" lvl="7" indent="-438150" rtl="1"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3300"/>
              <a:buChar char="○"/>
              <a:defRPr sz="3300">
                <a:solidFill>
                  <a:srgbClr val="073763"/>
                </a:solidFill>
              </a:defRPr>
            </a:lvl8pPr>
            <a:lvl9pPr marL="4114800" lvl="8" indent="-438150" rtl="1"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3300"/>
              <a:buChar char="■"/>
              <a:defRPr sz="3300">
                <a:solidFill>
                  <a:srgbClr val="07376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66000" y="193228"/>
            <a:ext cx="10935300" cy="864300"/>
          </a:xfrm>
          <a:prstGeom prst="rect">
            <a:avLst/>
          </a:prstGeom>
          <a:noFill/>
          <a:ln>
            <a:noFill/>
          </a:ln>
          <a:effectLst>
            <a:outerShdw blurRad="114300" algn="bl" rotWithShape="0">
              <a:schemeClr val="lt1">
                <a:alpha val="0"/>
              </a:scheme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1"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4000"/>
              <a:buNone/>
              <a:defRPr sz="4000">
                <a:solidFill>
                  <a:srgbClr val="07376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66000" y="1170259"/>
            <a:ext cx="10935300" cy="5617800"/>
          </a:xfrm>
          <a:prstGeom prst="rect">
            <a:avLst/>
          </a:prstGeom>
          <a:noFill/>
          <a:ln>
            <a:noFill/>
          </a:ln>
          <a:effectLst>
            <a:outerShdw blurRad="114300" algn="bl" rotWithShape="0">
              <a:schemeClr val="lt1">
                <a:alpha val="0"/>
              </a:scheme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38150" rtl="1"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3300"/>
              <a:buChar char="●"/>
              <a:defRPr sz="3300">
                <a:solidFill>
                  <a:srgbClr val="073763"/>
                </a:solidFill>
              </a:defRPr>
            </a:lvl1pPr>
            <a:lvl2pPr marL="914400" lvl="1" indent="-438150" rtl="1"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3300"/>
              <a:buChar char="○"/>
              <a:defRPr sz="3300">
                <a:solidFill>
                  <a:srgbClr val="073763"/>
                </a:solidFill>
              </a:defRPr>
            </a:lvl2pPr>
            <a:lvl3pPr marL="1371600" lvl="2" indent="-438150" rtl="1"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3300"/>
              <a:buChar char="■"/>
              <a:defRPr sz="3300">
                <a:solidFill>
                  <a:srgbClr val="073763"/>
                </a:solidFill>
              </a:defRPr>
            </a:lvl3pPr>
            <a:lvl4pPr marL="1828800" lvl="3" indent="-438150" rtl="1"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3300"/>
              <a:buChar char="●"/>
              <a:defRPr sz="3300">
                <a:solidFill>
                  <a:srgbClr val="073763"/>
                </a:solidFill>
              </a:defRPr>
            </a:lvl4pPr>
            <a:lvl5pPr marL="2286000" lvl="4" indent="-438150" rtl="1"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3300"/>
              <a:buChar char="○"/>
              <a:defRPr sz="3300">
                <a:solidFill>
                  <a:srgbClr val="073763"/>
                </a:solidFill>
              </a:defRPr>
            </a:lvl5pPr>
            <a:lvl6pPr marL="2743200" lvl="5" indent="-438150" rtl="1"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3300"/>
              <a:buChar char="■"/>
              <a:defRPr sz="3300">
                <a:solidFill>
                  <a:srgbClr val="073763"/>
                </a:solidFill>
              </a:defRPr>
            </a:lvl6pPr>
            <a:lvl7pPr marL="3200400" lvl="6" indent="-438150" rtl="1"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3300"/>
              <a:buChar char="●"/>
              <a:defRPr sz="3300">
                <a:solidFill>
                  <a:srgbClr val="073763"/>
                </a:solidFill>
              </a:defRPr>
            </a:lvl7pPr>
            <a:lvl8pPr marL="3657600" lvl="7" indent="-438150" rtl="1"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3300"/>
              <a:buChar char="○"/>
              <a:defRPr sz="3300">
                <a:solidFill>
                  <a:srgbClr val="073763"/>
                </a:solidFill>
              </a:defRPr>
            </a:lvl8pPr>
            <a:lvl9pPr marL="4114800" lvl="8" indent="-438150" rtl="1"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3300"/>
              <a:buChar char="■"/>
              <a:defRPr sz="3300">
                <a:solidFill>
                  <a:srgbClr val="073763"/>
                </a:solidFill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jpg"/><Relationship Id="rId5" Type="http://schemas.openxmlformats.org/officeDocument/2006/relationships/image" Target="../media/image14.jpg"/><Relationship Id="rId4" Type="http://schemas.openxmlformats.org/officeDocument/2006/relationships/image" Target="../media/image1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3" name="BasisPointsImage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AI title"/>
          <p:cNvSpPr/>
          <p:nvPr/>
        </p:nvSpPr>
        <p:spPr>
          <a:xfrm>
            <a:off x="5384800" y="1511300"/>
            <a:ext cx="482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400" b="0" dirty="0">
                <a:ln w="6350">
                  <a:solidFill>
                    <a:srgbClr val="353533">
                      <a:alpha val="85000"/>
                    </a:srgbClr>
                  </a:solidFill>
                </a:ln>
                <a:solidFill>
                  <a:srgbClr val="E8E5DE">
                    <a:alpha val="92000"/>
                  </a:srgbClr>
                </a:solidFill>
                <a:latin typeface="Arial Narrow" pitchFamily="34" charset="0"/>
                <a:ea typeface="Arial Narrow" pitchFamily="34" charset="-122"/>
                <a:cs typeface="Arial" pitchFamily="34" charset="-120"/>
              </a:rPr>
              <a:t>AI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5867400" y="1511300"/>
            <a:ext cx="952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he-IL" sz="3400" b="0" dirty="0">
                <a:ln w="6350">
                  <a:solidFill>
                    <a:srgbClr val="353533">
                      <a:alpha val="85000"/>
                    </a:srgbClr>
                  </a:solidFill>
                </a:ln>
                <a:solidFill>
                  <a:srgbClr val="E8E5DE">
                    <a:alpha val="92000"/>
                  </a:srgbClr>
                </a:solidFill>
                <a:latin typeface="Arial Narrow" pitchFamily="34" charset="0"/>
                <a:ea typeface="Arial Narrow" pitchFamily="34" charset="-122"/>
                <a:cs typeface="Arial" pitchFamily="34" charset="-120"/>
              </a:rPr>
              <a:t>מרכז</a:t>
            </a:r>
            <a:endParaRPr lang="he-IL" sz="3400" dirty="0"/>
          </a:p>
        </p:txBody>
      </p:sp>
      <p:sp>
        <p:nvSpPr>
          <p:cNvPr id="5" name="Text 2"/>
          <p:cNvSpPr/>
          <p:nvPr/>
        </p:nvSpPr>
        <p:spPr>
          <a:xfrm>
            <a:off x="4095750" y="2070100"/>
            <a:ext cx="40005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0" spc="80" dirty="0">
                <a:ln w="6350">
                  <a:solidFill>
                    <a:srgbClr val="353533">
                      <a:alpha val="85000"/>
                    </a:srgbClr>
                  </a:solidFill>
                </a:ln>
                <a:solidFill>
                  <a:srgbClr val="E8E5DE">
                    <a:alpha val="90000"/>
                  </a:srgbClr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AI CENETR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35703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/>
          <p:nvPr/>
        </p:nvSpPr>
        <p:spPr>
          <a:xfrm>
            <a:off x="9068100" y="1410000"/>
            <a:ext cx="2514600" cy="4592100"/>
          </a:xfrm>
          <a:prstGeom prst="roundRect">
            <a:avLst>
              <a:gd name="adj" fmla="val 2204"/>
            </a:avLst>
          </a:prstGeom>
          <a:solidFill>
            <a:srgbClr val="FFFFFF"/>
          </a:solidFill>
          <a:ln>
            <a:noFill/>
          </a:ln>
          <a:effectLst>
            <a:outerShdw blurRad="190500" dist="38100" dir="5400000" algn="bl" rotWithShape="0">
              <a:srgbClr val="000000">
                <a:alpha val="471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4"/>
          <p:cNvSpPr/>
          <p:nvPr/>
        </p:nvSpPr>
        <p:spPr>
          <a:xfrm>
            <a:off x="10705795" y="1772107"/>
            <a:ext cx="571500" cy="571500"/>
          </a:xfrm>
          <a:prstGeom prst="ellipse">
            <a:avLst/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9068105" y="1410005"/>
            <a:ext cx="2514600" cy="57600"/>
          </a:xfrm>
          <a:prstGeom prst="rect">
            <a:avLst/>
          </a:prstGeom>
          <a:solidFill>
            <a:srgbClr val="0084C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" name="Google Shape;25;p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77702" y="19431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4"/>
          <p:cNvSpPr/>
          <p:nvPr/>
        </p:nvSpPr>
        <p:spPr>
          <a:xfrm>
            <a:off x="6248090" y="1410000"/>
            <a:ext cx="2514600" cy="4592100"/>
          </a:xfrm>
          <a:prstGeom prst="roundRect">
            <a:avLst>
              <a:gd name="adj" fmla="val 2204"/>
            </a:avLst>
          </a:prstGeom>
          <a:solidFill>
            <a:srgbClr val="FFFFFF"/>
          </a:solidFill>
          <a:ln>
            <a:noFill/>
          </a:ln>
          <a:effectLst>
            <a:outerShdw blurRad="190500" dist="38100" dir="5400000" algn="bl" rotWithShape="0">
              <a:srgbClr val="000000">
                <a:alpha val="471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6248095" y="1410005"/>
            <a:ext cx="2514600" cy="57600"/>
          </a:xfrm>
          <a:prstGeom prst="rect">
            <a:avLst/>
          </a:prstGeom>
          <a:solidFill>
            <a:srgbClr val="E6007E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7886700" y="1772107"/>
            <a:ext cx="571500" cy="571500"/>
          </a:xfrm>
          <a:prstGeom prst="ellipse">
            <a:avLst/>
          </a:prstGeom>
          <a:solidFill>
            <a:srgbClr val="FDF2F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3428995" y="1410000"/>
            <a:ext cx="2514600" cy="4592100"/>
          </a:xfrm>
          <a:prstGeom prst="roundRect">
            <a:avLst>
              <a:gd name="adj" fmla="val 2204"/>
            </a:avLst>
          </a:prstGeom>
          <a:solidFill>
            <a:srgbClr val="FFFFFF"/>
          </a:solidFill>
          <a:ln>
            <a:noFill/>
          </a:ln>
          <a:effectLst>
            <a:outerShdw blurRad="190500" dist="38100" dir="5400000" algn="bl" rotWithShape="0">
              <a:srgbClr val="000000">
                <a:alpha val="471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3429000" y="1410005"/>
            <a:ext cx="2514600" cy="57600"/>
          </a:xfrm>
          <a:prstGeom prst="rect">
            <a:avLst/>
          </a:prstGeom>
          <a:solidFill>
            <a:srgbClr val="00285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5067605" y="1772107"/>
            <a:ext cx="571500" cy="571500"/>
          </a:xfrm>
          <a:prstGeom prst="ellipse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609900" y="1410000"/>
            <a:ext cx="2514600" cy="4592100"/>
          </a:xfrm>
          <a:prstGeom prst="roundRect">
            <a:avLst>
              <a:gd name="adj" fmla="val 2204"/>
            </a:avLst>
          </a:prstGeom>
          <a:solidFill>
            <a:srgbClr val="FFFFFF"/>
          </a:solidFill>
          <a:ln>
            <a:noFill/>
          </a:ln>
          <a:effectLst>
            <a:outerShdw blurRad="190500" dist="38100" dir="5400000" algn="bl" rotWithShape="0">
              <a:srgbClr val="000000">
                <a:alpha val="471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609905" y="1410005"/>
            <a:ext cx="2514600" cy="57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4"/>
          <p:cNvSpPr txBox="1">
            <a:spLocks noGrp="1"/>
          </p:cNvSpPr>
          <p:nvPr>
            <p:ph type="body" idx="1"/>
          </p:nvPr>
        </p:nvSpPr>
        <p:spPr>
          <a:xfrm>
            <a:off x="9068100" y="2553000"/>
            <a:ext cx="2514600" cy="105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 err="1"/>
              <a:t>בשלות</a:t>
            </a:r>
            <a:r>
              <a:rPr lang="en-US" sz="2800" dirty="0"/>
              <a:t> </a:t>
            </a:r>
            <a:r>
              <a:rPr lang="en-US" sz="2800" dirty="0" err="1"/>
              <a:t>וקצב</a:t>
            </a:r>
            <a:r>
              <a:rPr lang="en-US" sz="2800" dirty="0"/>
              <a:t> </a:t>
            </a:r>
            <a:r>
              <a:rPr lang="en-US" sz="2800" dirty="0" err="1"/>
              <a:t>האימוץ</a:t>
            </a:r>
            <a:endParaRPr sz="2800" dirty="0"/>
          </a:p>
        </p:txBody>
      </p:sp>
      <p:sp>
        <p:nvSpPr>
          <p:cNvPr id="35" name="Google Shape;35;p4"/>
          <p:cNvSpPr txBox="1">
            <a:spLocks noGrp="1"/>
          </p:cNvSpPr>
          <p:nvPr>
            <p:ph type="body" idx="1"/>
          </p:nvPr>
        </p:nvSpPr>
        <p:spPr>
          <a:xfrm>
            <a:off x="9067200" y="3346926"/>
            <a:ext cx="2514600" cy="20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200" dirty="0" err="1"/>
              <a:t>מהפכת</a:t>
            </a:r>
            <a:r>
              <a:rPr lang="en-US" sz="2200" dirty="0"/>
              <a:t> </a:t>
            </a:r>
            <a:r>
              <a:rPr lang="he-IL" sz="2200" dirty="0"/>
              <a:t>ה-</a:t>
            </a:r>
            <a:r>
              <a:rPr lang="en-US" sz="2200" dirty="0"/>
              <a:t>GenAI</a:t>
            </a:r>
            <a:r>
              <a:rPr lang="he-IL" sz="2200" dirty="0"/>
              <a:t> </a:t>
            </a:r>
            <a:r>
              <a:rPr lang="en-US" sz="2200" dirty="0" err="1"/>
              <a:t>מבשילה</a:t>
            </a:r>
            <a:r>
              <a:rPr lang="en-US" sz="2200" dirty="0"/>
              <a:t> </a:t>
            </a:r>
            <a:r>
              <a:rPr lang="en-US" sz="2200" dirty="0" err="1"/>
              <a:t>בקצב</a:t>
            </a:r>
            <a:r>
              <a:rPr lang="en-US" sz="2200" dirty="0"/>
              <a:t> </a:t>
            </a:r>
            <a:r>
              <a:rPr lang="en-US" sz="2200" dirty="0" err="1"/>
              <a:t>אקספוננציאלי</a:t>
            </a:r>
            <a:r>
              <a:rPr lang="en-US" sz="2200" dirty="0"/>
              <a:t> </a:t>
            </a:r>
            <a:r>
              <a:rPr lang="en-US" sz="2200" dirty="0" err="1"/>
              <a:t>והופכת</a:t>
            </a:r>
            <a:r>
              <a:rPr lang="en-US" sz="2200" dirty="0"/>
              <a:t> </a:t>
            </a:r>
            <a:r>
              <a:rPr lang="en-US" sz="2200" dirty="0" err="1"/>
              <a:t>נגישה</a:t>
            </a:r>
            <a:r>
              <a:rPr lang="en-US" sz="2200" dirty="0"/>
              <a:t> </a:t>
            </a:r>
            <a:r>
              <a:rPr lang="en-US" sz="2200" dirty="0" err="1"/>
              <a:t>לכולם</a:t>
            </a:r>
            <a:endParaRPr sz="2200" dirty="0"/>
          </a:p>
        </p:txBody>
      </p:sp>
      <p:sp>
        <p:nvSpPr>
          <p:cNvPr id="36" name="Google Shape;36;p4"/>
          <p:cNvSpPr/>
          <p:nvPr/>
        </p:nvSpPr>
        <p:spPr>
          <a:xfrm>
            <a:off x="2247595" y="1772107"/>
            <a:ext cx="571500" cy="571500"/>
          </a:xfrm>
          <a:prstGeom prst="ellipse">
            <a:avLst/>
          </a:prstGeom>
          <a:solidFill>
            <a:srgbClr val="FFFBE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" name="Google Shape;37;p4" descr="preencoded.png"/>
          <p:cNvPicPr preferRelativeResize="0"/>
          <p:nvPr/>
        </p:nvPicPr>
        <p:blipFill rotWithShape="1">
          <a:blip r:embed="rId4">
            <a:alphaModFix/>
          </a:blip>
          <a:srcRect t="-40" b="-50"/>
          <a:stretch/>
        </p:blipFill>
        <p:spPr>
          <a:xfrm>
            <a:off x="8043977" y="1943100"/>
            <a:ext cx="256946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4" descr="preencoded.png"/>
          <p:cNvPicPr preferRelativeResize="0"/>
          <p:nvPr/>
        </p:nvPicPr>
        <p:blipFill rotWithShape="1">
          <a:blip r:embed="rId5">
            <a:alphaModFix/>
          </a:blip>
          <a:srcRect l="-80" r="-80"/>
          <a:stretch/>
        </p:blipFill>
        <p:spPr>
          <a:xfrm>
            <a:off x="5210251" y="1943100"/>
            <a:ext cx="286207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4" descr="preencoded.png"/>
          <p:cNvPicPr preferRelativeResize="0"/>
          <p:nvPr/>
        </p:nvPicPr>
        <p:blipFill rotWithShape="1">
          <a:blip r:embed="rId6">
            <a:alphaModFix/>
          </a:blip>
          <a:srcRect t="-40" b="-50"/>
          <a:stretch/>
        </p:blipFill>
        <p:spPr>
          <a:xfrm>
            <a:off x="2404872" y="1943100"/>
            <a:ext cx="256946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4"/>
          <p:cNvSpPr txBox="1">
            <a:spLocks noGrp="1"/>
          </p:cNvSpPr>
          <p:nvPr>
            <p:ph type="title"/>
          </p:nvPr>
        </p:nvSpPr>
        <p:spPr>
          <a:xfrm>
            <a:off x="866000" y="193228"/>
            <a:ext cx="10935300" cy="86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למה</a:t>
            </a:r>
            <a:r>
              <a:rPr lang="en-US" dirty="0"/>
              <a:t> </a:t>
            </a:r>
            <a:r>
              <a:rPr lang="en-US" dirty="0" err="1"/>
              <a:t>עכשיו</a:t>
            </a:r>
            <a:endParaRPr dirty="0"/>
          </a:p>
        </p:txBody>
      </p:sp>
      <p:sp>
        <p:nvSpPr>
          <p:cNvPr id="41" name="Google Shape;41;p4"/>
          <p:cNvSpPr txBox="1">
            <a:spLocks noGrp="1"/>
          </p:cNvSpPr>
          <p:nvPr>
            <p:ph type="body" idx="1"/>
          </p:nvPr>
        </p:nvSpPr>
        <p:spPr>
          <a:xfrm>
            <a:off x="3429225" y="2553000"/>
            <a:ext cx="2514600" cy="64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ציפיות הלקוחות</a:t>
            </a:r>
            <a:endParaRPr sz="3000"/>
          </a:p>
        </p:txBody>
      </p:sp>
      <p:sp>
        <p:nvSpPr>
          <p:cNvPr id="42" name="Google Shape;42;p4"/>
          <p:cNvSpPr txBox="1">
            <a:spLocks noGrp="1"/>
          </p:cNvSpPr>
          <p:nvPr>
            <p:ph type="body" idx="1"/>
          </p:nvPr>
        </p:nvSpPr>
        <p:spPr>
          <a:xfrm>
            <a:off x="609900" y="2553000"/>
            <a:ext cx="2514600" cy="64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הסיכון לא לעשות</a:t>
            </a:r>
            <a:endParaRPr sz="2800"/>
          </a:p>
        </p:txBody>
      </p:sp>
      <p:sp>
        <p:nvSpPr>
          <p:cNvPr id="43" name="Google Shape;43;p4"/>
          <p:cNvSpPr txBox="1">
            <a:spLocks noGrp="1"/>
          </p:cNvSpPr>
          <p:nvPr>
            <p:ph type="body" idx="1"/>
          </p:nvPr>
        </p:nvSpPr>
        <p:spPr>
          <a:xfrm>
            <a:off x="609000" y="3346925"/>
            <a:ext cx="2514600" cy="19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200"/>
              <a:t>פער תחרותי בלתי ניתן לגישור, איבוד רלוונטיות, נתח שוק וצמיחה</a:t>
            </a:r>
            <a:endParaRPr sz="2200"/>
          </a:p>
        </p:txBody>
      </p:sp>
      <p:sp>
        <p:nvSpPr>
          <p:cNvPr id="44" name="Google Shape;44;p4"/>
          <p:cNvSpPr txBox="1">
            <a:spLocks noGrp="1"/>
          </p:cNvSpPr>
          <p:nvPr>
            <p:ph type="body" idx="1"/>
          </p:nvPr>
        </p:nvSpPr>
        <p:spPr>
          <a:xfrm>
            <a:off x="3428775" y="3346925"/>
            <a:ext cx="2514600" cy="20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/>
              <a:t>הסטנדרט הוא שירות חכם, מהיר ואישי בזמן אמת</a:t>
            </a:r>
            <a:endParaRPr sz="2200"/>
          </a:p>
          <a:p>
            <a:pPr marL="0" marR="0" lvl="0" indent="0" algn="r" rtl="1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200"/>
          </a:p>
        </p:txBody>
      </p:sp>
      <p:sp>
        <p:nvSpPr>
          <p:cNvPr id="45" name="Google Shape;45;p4"/>
          <p:cNvSpPr txBox="1">
            <a:spLocks noGrp="1"/>
          </p:cNvSpPr>
          <p:nvPr>
            <p:ph type="body" idx="1"/>
          </p:nvPr>
        </p:nvSpPr>
        <p:spPr>
          <a:xfrm>
            <a:off x="6248663" y="2553000"/>
            <a:ext cx="2514600" cy="105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בשלות וקצב האימוץ</a:t>
            </a:r>
            <a:endParaRPr sz="2800"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6247988" y="3346926"/>
            <a:ext cx="2514600" cy="20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200"/>
              <a:t>מי שמחכה לא יהיה מוכן בזמן</a:t>
            </a:r>
            <a:endParaRPr sz="2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"/>
          <p:cNvSpPr/>
          <p:nvPr/>
        </p:nvSpPr>
        <p:spPr>
          <a:xfrm>
            <a:off x="9068100" y="1410000"/>
            <a:ext cx="2514600" cy="4592100"/>
          </a:xfrm>
          <a:prstGeom prst="roundRect">
            <a:avLst>
              <a:gd name="adj" fmla="val 2204"/>
            </a:avLst>
          </a:prstGeom>
          <a:solidFill>
            <a:srgbClr val="FF0000">
              <a:alpha val="4430"/>
            </a:srgbClr>
          </a:solidFill>
          <a:ln>
            <a:noFill/>
          </a:ln>
          <a:effectLst>
            <a:outerShdw blurRad="190500" dist="38100" dir="5400000" algn="bl" rotWithShape="0">
              <a:srgbClr val="000000">
                <a:alpha val="471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9068105" y="1410005"/>
            <a:ext cx="2514600" cy="576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6248090" y="1410000"/>
            <a:ext cx="2514600" cy="4592100"/>
          </a:xfrm>
          <a:prstGeom prst="roundRect">
            <a:avLst>
              <a:gd name="adj" fmla="val 2204"/>
            </a:avLst>
          </a:prstGeom>
          <a:solidFill>
            <a:srgbClr val="FF0000">
              <a:alpha val="4430"/>
            </a:srgbClr>
          </a:solidFill>
          <a:ln>
            <a:noFill/>
          </a:ln>
          <a:effectLst>
            <a:outerShdw blurRad="190500" dist="38100" dir="5400000" algn="bl" rotWithShape="0">
              <a:srgbClr val="000000">
                <a:alpha val="471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6248095" y="1410005"/>
            <a:ext cx="2514600" cy="576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3428995" y="1410000"/>
            <a:ext cx="2514600" cy="4592100"/>
          </a:xfrm>
          <a:prstGeom prst="roundRect">
            <a:avLst>
              <a:gd name="adj" fmla="val 2204"/>
            </a:avLst>
          </a:prstGeom>
          <a:solidFill>
            <a:srgbClr val="FF0000">
              <a:alpha val="4430"/>
            </a:srgbClr>
          </a:solidFill>
          <a:ln>
            <a:noFill/>
          </a:ln>
          <a:effectLst>
            <a:outerShdw blurRad="190500" dist="38100" dir="5400000" algn="bl" rotWithShape="0">
              <a:srgbClr val="000000">
                <a:alpha val="471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3429000" y="1410005"/>
            <a:ext cx="2514600" cy="576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609900" y="1410000"/>
            <a:ext cx="2514600" cy="4592100"/>
          </a:xfrm>
          <a:prstGeom prst="roundRect">
            <a:avLst>
              <a:gd name="adj" fmla="val 2204"/>
            </a:avLst>
          </a:prstGeom>
          <a:solidFill>
            <a:srgbClr val="FF0000">
              <a:alpha val="4430"/>
            </a:srgbClr>
          </a:solidFill>
          <a:ln>
            <a:noFill/>
          </a:ln>
          <a:effectLst>
            <a:outerShdw blurRad="190500" dist="38100" dir="5400000" algn="bl" rotWithShape="0">
              <a:srgbClr val="000000">
                <a:alpha val="471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609905" y="1410005"/>
            <a:ext cx="2514600" cy="576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5"/>
          <p:cNvSpPr txBox="1">
            <a:spLocks noGrp="1"/>
          </p:cNvSpPr>
          <p:nvPr>
            <p:ph type="body" idx="1"/>
          </p:nvPr>
        </p:nvSpPr>
        <p:spPr>
          <a:xfrm>
            <a:off x="9068100" y="2553000"/>
            <a:ext cx="2514600" cy="105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Shadow AI</a:t>
            </a:r>
            <a:endParaRPr sz="2800"/>
          </a:p>
        </p:txBody>
      </p:sp>
      <p:sp>
        <p:nvSpPr>
          <p:cNvPr id="60" name="Google Shape;60;p5"/>
          <p:cNvSpPr txBox="1">
            <a:spLocks noGrp="1"/>
          </p:cNvSpPr>
          <p:nvPr>
            <p:ph type="body" idx="1"/>
          </p:nvPr>
        </p:nvSpPr>
        <p:spPr>
          <a:xfrm>
            <a:off x="9067200" y="3346926"/>
            <a:ext cx="2514600" cy="20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200" dirty="0" err="1"/>
              <a:t>שימוש</a:t>
            </a:r>
            <a:r>
              <a:rPr lang="en-US" sz="2200" dirty="0"/>
              <a:t> </a:t>
            </a:r>
            <a:r>
              <a:rPr lang="en-US" sz="2200" dirty="0" err="1"/>
              <a:t>עובדים</a:t>
            </a:r>
            <a:r>
              <a:rPr lang="en-US" sz="2200" dirty="0"/>
              <a:t> </a:t>
            </a:r>
            <a:r>
              <a:rPr lang="he-IL" sz="2200" dirty="0"/>
              <a:t>בכלי </a:t>
            </a:r>
            <a:r>
              <a:rPr lang="en-US" sz="2200" dirty="0"/>
              <a:t>AI</a:t>
            </a:r>
            <a:r>
              <a:rPr lang="he-IL" sz="2200" dirty="0"/>
              <a:t> </a:t>
            </a:r>
            <a:r>
              <a:rPr lang="en-US" sz="2200" dirty="0"/>
              <a:t> </a:t>
            </a:r>
            <a:r>
              <a:rPr lang="en-US" sz="2200" dirty="0" err="1"/>
              <a:t>מתחת</a:t>
            </a:r>
            <a:r>
              <a:rPr lang="en-US" sz="2200" dirty="0"/>
              <a:t> </a:t>
            </a:r>
            <a:r>
              <a:rPr lang="en-US" sz="2200" dirty="0" err="1"/>
              <a:t>לרדאר</a:t>
            </a:r>
            <a:r>
              <a:rPr lang="en-US" sz="2200" dirty="0"/>
              <a:t>, </a:t>
            </a:r>
            <a:r>
              <a:rPr lang="en-US" sz="2200" dirty="0" err="1"/>
              <a:t>בלי</a:t>
            </a:r>
            <a:r>
              <a:rPr lang="en-US" sz="2200" dirty="0"/>
              <a:t> </a:t>
            </a:r>
            <a:r>
              <a:rPr lang="en-US" sz="2200" dirty="0" err="1"/>
              <a:t>אישור</a:t>
            </a:r>
            <a:r>
              <a:rPr lang="en-US" sz="2200" dirty="0"/>
              <a:t>, </a:t>
            </a:r>
            <a:r>
              <a:rPr lang="en-US" sz="2200" dirty="0" err="1"/>
              <a:t>בלי</a:t>
            </a:r>
            <a:r>
              <a:rPr lang="en-US" sz="2200" dirty="0"/>
              <a:t> </a:t>
            </a:r>
            <a:r>
              <a:rPr lang="en-US" sz="2200" dirty="0" err="1"/>
              <a:t>מדיניות</a:t>
            </a:r>
            <a:r>
              <a:rPr lang="en-US" sz="2200" dirty="0"/>
              <a:t> </a:t>
            </a:r>
            <a:r>
              <a:rPr lang="en-US" sz="2200" dirty="0" err="1"/>
              <a:t>ובלי</a:t>
            </a:r>
            <a:r>
              <a:rPr lang="en-US" sz="2200" dirty="0"/>
              <a:t> </a:t>
            </a:r>
            <a:r>
              <a:rPr lang="en-US" sz="2200" dirty="0" err="1"/>
              <a:t>בקרות</a:t>
            </a:r>
            <a:endParaRPr sz="2200" dirty="0"/>
          </a:p>
        </p:txBody>
      </p:sp>
      <p:sp>
        <p:nvSpPr>
          <p:cNvPr id="61" name="Google Shape;61;p5"/>
          <p:cNvSpPr txBox="1">
            <a:spLocks noGrp="1"/>
          </p:cNvSpPr>
          <p:nvPr>
            <p:ph type="title"/>
          </p:nvPr>
        </p:nvSpPr>
        <p:spPr>
          <a:xfrm>
            <a:off x="866000" y="193228"/>
            <a:ext cx="10935300" cy="86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ואם לא עכשיו</a:t>
            </a:r>
            <a:endParaRPr/>
          </a:p>
        </p:txBody>
      </p:sp>
      <p:sp>
        <p:nvSpPr>
          <p:cNvPr id="62" name="Google Shape;62;p5"/>
          <p:cNvSpPr txBox="1">
            <a:spLocks noGrp="1"/>
          </p:cNvSpPr>
          <p:nvPr>
            <p:ph type="body" idx="1"/>
          </p:nvPr>
        </p:nvSpPr>
        <p:spPr>
          <a:xfrm>
            <a:off x="3429225" y="2553000"/>
            <a:ext cx="2514600" cy="64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לא נצליח לגייס</a:t>
            </a:r>
            <a:endParaRPr sz="3000"/>
          </a:p>
        </p:txBody>
      </p:sp>
      <p:sp>
        <p:nvSpPr>
          <p:cNvPr id="63" name="Google Shape;63;p5"/>
          <p:cNvSpPr txBox="1">
            <a:spLocks noGrp="1"/>
          </p:cNvSpPr>
          <p:nvPr>
            <p:ph type="body" idx="1"/>
          </p:nvPr>
        </p:nvSpPr>
        <p:spPr>
          <a:xfrm>
            <a:off x="609900" y="2553000"/>
            <a:ext cx="2514600" cy="64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נאבד לקוחות</a:t>
            </a:r>
            <a:endParaRPr sz="2800"/>
          </a:p>
        </p:txBody>
      </p:sp>
      <p:sp>
        <p:nvSpPr>
          <p:cNvPr id="64" name="Google Shape;64;p5"/>
          <p:cNvSpPr txBox="1">
            <a:spLocks noGrp="1"/>
          </p:cNvSpPr>
          <p:nvPr>
            <p:ph type="body" idx="1"/>
          </p:nvPr>
        </p:nvSpPr>
        <p:spPr>
          <a:xfrm>
            <a:off x="609000" y="3346925"/>
            <a:ext cx="2514600" cy="19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200"/>
              <a:t>השירות ישחק והלקוחות ילכו</a:t>
            </a:r>
            <a:endParaRPr sz="2200"/>
          </a:p>
        </p:txBody>
      </p:sp>
      <p:sp>
        <p:nvSpPr>
          <p:cNvPr id="65" name="Google Shape;65;p5"/>
          <p:cNvSpPr txBox="1">
            <a:spLocks noGrp="1"/>
          </p:cNvSpPr>
          <p:nvPr>
            <p:ph type="body" idx="1"/>
          </p:nvPr>
        </p:nvSpPr>
        <p:spPr>
          <a:xfrm>
            <a:off x="3428775" y="3346925"/>
            <a:ext cx="2514600" cy="22780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he-IL" sz="2200" dirty="0"/>
              <a:t>עובדים לא יסכימו לעבוד בחלק מהתפקידים ואחרים לא יסכימו לעבוד בחברה בלי כלים אלו</a:t>
            </a:r>
            <a:endParaRPr sz="2200" dirty="0"/>
          </a:p>
          <a:p>
            <a:pPr marL="0" marR="0" lvl="0" indent="0" algn="r" rtl="1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200" dirty="0"/>
          </a:p>
        </p:txBody>
      </p:sp>
      <p:sp>
        <p:nvSpPr>
          <p:cNvPr id="66" name="Google Shape;66;p5"/>
          <p:cNvSpPr txBox="1">
            <a:spLocks noGrp="1"/>
          </p:cNvSpPr>
          <p:nvPr>
            <p:ph type="body" idx="1"/>
          </p:nvPr>
        </p:nvSpPr>
        <p:spPr>
          <a:xfrm>
            <a:off x="6248663" y="2553000"/>
            <a:ext cx="2514600" cy="105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אובדן יתרון תחרותי</a:t>
            </a:r>
            <a:endParaRPr sz="2800"/>
          </a:p>
        </p:txBody>
      </p:sp>
      <p:sp>
        <p:nvSpPr>
          <p:cNvPr id="67" name="Google Shape;67;p5"/>
          <p:cNvSpPr txBox="1">
            <a:spLocks noGrp="1"/>
          </p:cNvSpPr>
          <p:nvPr>
            <p:ph type="body" idx="1"/>
          </p:nvPr>
        </p:nvSpPr>
        <p:spPr>
          <a:xfrm>
            <a:off x="6247988" y="3346926"/>
            <a:ext cx="2514600" cy="20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200"/>
              <a:t>לאט יותר יקר יותר, יותר טעויות, יותר חזרות, נראה מיושנים אל מול הסטנדרט</a:t>
            </a:r>
            <a:endParaRPr sz="2200"/>
          </a:p>
        </p:txBody>
      </p:sp>
      <p:sp>
        <p:nvSpPr>
          <p:cNvPr id="68" name="Google Shape;68;p5"/>
          <p:cNvSpPr/>
          <p:nvPr/>
        </p:nvSpPr>
        <p:spPr>
          <a:xfrm>
            <a:off x="10871176" y="1743757"/>
            <a:ext cx="533100" cy="533100"/>
          </a:xfrm>
          <a:prstGeom prst="roundRect">
            <a:avLst>
              <a:gd name="adj" fmla="val 36756"/>
            </a:avLst>
          </a:prstGeom>
          <a:solidFill>
            <a:srgbClr val="FEE2E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9" name="Google Shape;69;p5" descr="preencoded.png"/>
          <p:cNvPicPr preferRelativeResize="0"/>
          <p:nvPr/>
        </p:nvPicPr>
        <p:blipFill rotWithShape="1">
          <a:blip r:embed="rId3">
            <a:alphaModFix/>
          </a:blip>
          <a:srcRect l="-60" r="-50"/>
          <a:stretch/>
        </p:blipFill>
        <p:spPr>
          <a:xfrm>
            <a:off x="11038511" y="1890295"/>
            <a:ext cx="200254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5"/>
          <p:cNvSpPr/>
          <p:nvPr/>
        </p:nvSpPr>
        <p:spPr>
          <a:xfrm>
            <a:off x="8020202" y="1743757"/>
            <a:ext cx="533100" cy="533100"/>
          </a:xfrm>
          <a:prstGeom prst="roundRect">
            <a:avLst>
              <a:gd name="adj" fmla="val 36756"/>
            </a:avLst>
          </a:prstGeom>
          <a:solidFill>
            <a:srgbClr val="FEE2E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5219395" y="1772107"/>
            <a:ext cx="533100" cy="533100"/>
          </a:xfrm>
          <a:prstGeom prst="roundRect">
            <a:avLst>
              <a:gd name="adj" fmla="val 36756"/>
            </a:avLst>
          </a:prstGeom>
          <a:solidFill>
            <a:srgbClr val="FEE2E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2419502" y="1772107"/>
            <a:ext cx="533100" cy="533100"/>
          </a:xfrm>
          <a:prstGeom prst="roundRect">
            <a:avLst>
              <a:gd name="adj" fmla="val 36756"/>
            </a:avLst>
          </a:prstGeom>
          <a:solidFill>
            <a:srgbClr val="FEE2E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3" name="Google Shape;73;p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72907" y="189029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5" descr="preencoded.png"/>
          <p:cNvPicPr preferRelativeResize="0"/>
          <p:nvPr/>
        </p:nvPicPr>
        <p:blipFill rotWithShape="1">
          <a:blip r:embed="rId5">
            <a:alphaModFix/>
          </a:blip>
          <a:srcRect l="-80" r="-80"/>
          <a:stretch/>
        </p:blipFill>
        <p:spPr>
          <a:xfrm>
            <a:off x="5343754" y="1918645"/>
            <a:ext cx="286207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5" descr="preencoded.png"/>
          <p:cNvPicPr preferRelativeResize="0"/>
          <p:nvPr/>
        </p:nvPicPr>
        <p:blipFill rotWithShape="1">
          <a:blip r:embed="rId3">
            <a:alphaModFix/>
          </a:blip>
          <a:srcRect l="-60" r="-50"/>
          <a:stretch/>
        </p:blipFill>
        <p:spPr>
          <a:xfrm>
            <a:off x="2580434" y="1914313"/>
            <a:ext cx="200254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"/>
          <p:cNvSpPr txBox="1">
            <a:spLocks noGrp="1"/>
          </p:cNvSpPr>
          <p:nvPr>
            <p:ph type="title"/>
          </p:nvPr>
        </p:nvSpPr>
        <p:spPr>
          <a:xfrm>
            <a:off x="866000" y="193228"/>
            <a:ext cx="10935300" cy="86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dirty="0"/>
              <a:t>למה מרכז </a:t>
            </a:r>
            <a:r>
              <a:rPr lang="en-US" dirty="0"/>
              <a:t>AI</a:t>
            </a:r>
            <a:endParaRPr dirty="0"/>
          </a:p>
        </p:txBody>
      </p:sp>
      <p:sp>
        <p:nvSpPr>
          <p:cNvPr id="81" name="Google Shape;81;p6"/>
          <p:cNvSpPr txBox="1">
            <a:spLocks noGrp="1"/>
          </p:cNvSpPr>
          <p:nvPr>
            <p:ph type="body" idx="1"/>
          </p:nvPr>
        </p:nvSpPr>
        <p:spPr>
          <a:xfrm>
            <a:off x="8116271" y="1261837"/>
            <a:ext cx="3575100" cy="1929000"/>
          </a:xfrm>
          <a:prstGeom prst="rect">
            <a:avLst/>
          </a:prstGeom>
          <a:solidFill>
            <a:srgbClr val="FFFFFF">
              <a:alpha val="69620"/>
            </a:srgbClr>
          </a:solidFill>
          <a:ln w="9525" cap="flat" cmpd="sng">
            <a:solidFill>
              <a:srgbClr val="9FC5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טרנספורמציה עסקית, לא פרויקט טכנולוגי</a:t>
            </a:r>
            <a:endParaRPr/>
          </a:p>
        </p:txBody>
      </p:sp>
      <p:sp>
        <p:nvSpPr>
          <p:cNvPr id="82" name="Google Shape;82;p6"/>
          <p:cNvSpPr txBox="1">
            <a:spLocks noGrp="1"/>
          </p:cNvSpPr>
          <p:nvPr>
            <p:ph type="body" idx="1"/>
          </p:nvPr>
        </p:nvSpPr>
        <p:spPr>
          <a:xfrm>
            <a:off x="4348771" y="1261837"/>
            <a:ext cx="3575100" cy="1929000"/>
          </a:xfrm>
          <a:prstGeom prst="rect">
            <a:avLst/>
          </a:prstGeom>
          <a:solidFill>
            <a:srgbClr val="FFFFFF">
              <a:alpha val="69620"/>
            </a:srgbClr>
          </a:solidFill>
          <a:ln w="9525" cap="flat" cmpd="sng">
            <a:solidFill>
              <a:srgbClr val="9FC5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מהפכה רוחבית בכל החטיבות</a:t>
            </a:r>
            <a:endParaRPr/>
          </a:p>
        </p:txBody>
      </p:sp>
      <p:sp>
        <p:nvSpPr>
          <p:cNvPr id="83" name="Google Shape;83;p6"/>
          <p:cNvSpPr txBox="1">
            <a:spLocks noGrp="1"/>
          </p:cNvSpPr>
          <p:nvPr>
            <p:ph type="body" idx="1"/>
          </p:nvPr>
        </p:nvSpPr>
        <p:spPr>
          <a:xfrm>
            <a:off x="581271" y="1261837"/>
            <a:ext cx="3575100" cy="1929000"/>
          </a:xfrm>
          <a:prstGeom prst="rect">
            <a:avLst/>
          </a:prstGeom>
          <a:solidFill>
            <a:srgbClr val="FFFFFF">
              <a:alpha val="69620"/>
            </a:srgbClr>
          </a:solidFill>
          <a:ln w="9525" cap="flat" cmpd="sng">
            <a:solidFill>
              <a:srgbClr val="9FC5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סינרגיה ומיצוי משאבים</a:t>
            </a:r>
            <a:endParaRPr/>
          </a:p>
        </p:txBody>
      </p:sp>
      <p:sp>
        <p:nvSpPr>
          <p:cNvPr id="84" name="Google Shape;84;p6"/>
          <p:cNvSpPr txBox="1">
            <a:spLocks noGrp="1"/>
          </p:cNvSpPr>
          <p:nvPr>
            <p:ph type="body" idx="1"/>
          </p:nvPr>
        </p:nvSpPr>
        <p:spPr>
          <a:xfrm>
            <a:off x="8116271" y="3685583"/>
            <a:ext cx="3575100" cy="1929000"/>
          </a:xfrm>
          <a:prstGeom prst="rect">
            <a:avLst/>
          </a:prstGeom>
          <a:solidFill>
            <a:srgbClr val="FFFFFF">
              <a:alpha val="69620"/>
            </a:srgbClr>
          </a:solidFill>
          <a:ln w="9525" cap="flat" cmpd="sng">
            <a:solidFill>
              <a:srgbClr val="9FC5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ניהול סיכונים ורגולציה</a:t>
            </a:r>
            <a:endParaRPr/>
          </a:p>
        </p:txBody>
      </p:sp>
      <p:sp>
        <p:nvSpPr>
          <p:cNvPr id="85" name="Google Shape;85;p6"/>
          <p:cNvSpPr txBox="1">
            <a:spLocks noGrp="1"/>
          </p:cNvSpPr>
          <p:nvPr>
            <p:ph type="body" idx="1"/>
          </p:nvPr>
        </p:nvSpPr>
        <p:spPr>
          <a:xfrm>
            <a:off x="4348771" y="3685583"/>
            <a:ext cx="3575100" cy="1929000"/>
          </a:xfrm>
          <a:prstGeom prst="rect">
            <a:avLst/>
          </a:prstGeom>
          <a:solidFill>
            <a:srgbClr val="FFFFFF">
              <a:alpha val="69620"/>
            </a:srgbClr>
          </a:solidFill>
          <a:ln w="9525" cap="flat" cmpd="sng">
            <a:solidFill>
              <a:srgbClr val="9FC5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ניהול פורטפוליו ותעדוף</a:t>
            </a:r>
            <a:endParaRPr/>
          </a:p>
        </p:txBody>
      </p:sp>
      <p:sp>
        <p:nvSpPr>
          <p:cNvPr id="86" name="Google Shape;86;p6"/>
          <p:cNvSpPr txBox="1">
            <a:spLocks noGrp="1"/>
          </p:cNvSpPr>
          <p:nvPr>
            <p:ph type="body" idx="1"/>
          </p:nvPr>
        </p:nvSpPr>
        <p:spPr>
          <a:xfrm>
            <a:off x="581271" y="3685583"/>
            <a:ext cx="3575100" cy="1929000"/>
          </a:xfrm>
          <a:prstGeom prst="rect">
            <a:avLst/>
          </a:prstGeom>
          <a:solidFill>
            <a:srgbClr val="FFFFFF">
              <a:alpha val="69620"/>
            </a:srgbClr>
          </a:solidFill>
          <a:ln w="9525" cap="flat" cmpd="sng">
            <a:solidFill>
              <a:srgbClr val="9FC5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למידה מהירה שכפול הצלחות</a:t>
            </a:r>
            <a:endParaRPr/>
          </a:p>
        </p:txBody>
      </p:sp>
      <p:cxnSp>
        <p:nvCxnSpPr>
          <p:cNvPr id="87" name="Google Shape;87;p6"/>
          <p:cNvCxnSpPr/>
          <p:nvPr/>
        </p:nvCxnSpPr>
        <p:spPr>
          <a:xfrm>
            <a:off x="642794" y="1248954"/>
            <a:ext cx="4200" cy="1960200"/>
          </a:xfrm>
          <a:prstGeom prst="straightConnector1">
            <a:avLst/>
          </a:prstGeom>
          <a:noFill/>
          <a:ln w="11430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" name="Google Shape;88;p6"/>
          <p:cNvCxnSpPr/>
          <p:nvPr/>
        </p:nvCxnSpPr>
        <p:spPr>
          <a:xfrm>
            <a:off x="4379532" y="1248946"/>
            <a:ext cx="4200" cy="1960200"/>
          </a:xfrm>
          <a:prstGeom prst="straightConnector1">
            <a:avLst/>
          </a:prstGeom>
          <a:noFill/>
          <a:ln w="11430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9" name="Google Shape;89;p6"/>
          <p:cNvCxnSpPr/>
          <p:nvPr/>
        </p:nvCxnSpPr>
        <p:spPr>
          <a:xfrm>
            <a:off x="8116282" y="1246221"/>
            <a:ext cx="4200" cy="1960200"/>
          </a:xfrm>
          <a:prstGeom prst="straightConnector1">
            <a:avLst/>
          </a:prstGeom>
          <a:noFill/>
          <a:ln w="11430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0" name="Google Shape;90;p6"/>
          <p:cNvCxnSpPr/>
          <p:nvPr/>
        </p:nvCxnSpPr>
        <p:spPr>
          <a:xfrm>
            <a:off x="581269" y="3671337"/>
            <a:ext cx="4200" cy="1960200"/>
          </a:xfrm>
          <a:prstGeom prst="straightConnector1">
            <a:avLst/>
          </a:prstGeom>
          <a:noFill/>
          <a:ln w="11430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" name="Google Shape;91;p6"/>
          <p:cNvCxnSpPr/>
          <p:nvPr/>
        </p:nvCxnSpPr>
        <p:spPr>
          <a:xfrm>
            <a:off x="4318007" y="3671330"/>
            <a:ext cx="4200" cy="1960200"/>
          </a:xfrm>
          <a:prstGeom prst="straightConnector1">
            <a:avLst/>
          </a:prstGeom>
          <a:noFill/>
          <a:ln w="11430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2" name="Google Shape;92;p6"/>
          <p:cNvCxnSpPr/>
          <p:nvPr/>
        </p:nvCxnSpPr>
        <p:spPr>
          <a:xfrm>
            <a:off x="8054757" y="3668605"/>
            <a:ext cx="4200" cy="1960200"/>
          </a:xfrm>
          <a:prstGeom prst="straightConnector1">
            <a:avLst/>
          </a:prstGeom>
          <a:noFill/>
          <a:ln w="11430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"/>
          <p:cNvSpPr txBox="1">
            <a:spLocks noGrp="1"/>
          </p:cNvSpPr>
          <p:nvPr>
            <p:ph type="title"/>
          </p:nvPr>
        </p:nvSpPr>
        <p:spPr>
          <a:xfrm>
            <a:off x="866000" y="193228"/>
            <a:ext cx="10935300" cy="86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לבנות מבפנים ולהתאים לבחוץ</a:t>
            </a:r>
            <a:endParaRPr/>
          </a:p>
        </p:txBody>
      </p:sp>
      <p:sp>
        <p:nvSpPr>
          <p:cNvPr id="98" name="Google Shape;98;p7"/>
          <p:cNvSpPr txBox="1">
            <a:spLocks noGrp="1"/>
          </p:cNvSpPr>
          <p:nvPr>
            <p:ph type="body" idx="1"/>
          </p:nvPr>
        </p:nvSpPr>
        <p:spPr>
          <a:xfrm>
            <a:off x="6504390" y="1170250"/>
            <a:ext cx="5022300" cy="4951200"/>
          </a:xfrm>
          <a:prstGeom prst="rect">
            <a:avLst/>
          </a:prstGeom>
          <a:solidFill>
            <a:srgbClr val="FFFFFF">
              <a:alpha val="80000"/>
            </a:srgbClr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 err="1"/>
              <a:t>ציר</a:t>
            </a:r>
            <a:r>
              <a:rPr lang="en-US" sz="3200" dirty="0"/>
              <a:t> </a:t>
            </a:r>
            <a:r>
              <a:rPr lang="en-US" sz="3200" dirty="0" err="1"/>
              <a:t>פנימי</a:t>
            </a:r>
            <a:r>
              <a:rPr lang="en-US" sz="3200" dirty="0"/>
              <a:t>  - </a:t>
            </a:r>
            <a:r>
              <a:rPr lang="en-US" sz="3200" dirty="0" err="1"/>
              <a:t>משפרים</a:t>
            </a:r>
            <a:r>
              <a:rPr lang="en-US" sz="3200" dirty="0"/>
              <a:t> </a:t>
            </a:r>
            <a:r>
              <a:rPr lang="en-US" sz="3200" dirty="0" err="1"/>
              <a:t>תהליכים</a:t>
            </a:r>
            <a:r>
              <a:rPr lang="en-US" sz="3200" dirty="0"/>
              <a:t> </a:t>
            </a:r>
            <a:r>
              <a:rPr lang="en-US" sz="3200" dirty="0" err="1"/>
              <a:t>וחוויית</a:t>
            </a:r>
            <a:r>
              <a:rPr lang="en-US" sz="3200" dirty="0"/>
              <a:t> </a:t>
            </a:r>
            <a:r>
              <a:rPr lang="en-US" sz="3200" dirty="0" err="1"/>
              <a:t>לקוח</a:t>
            </a:r>
            <a:r>
              <a:rPr lang="en-US" sz="3200" dirty="0"/>
              <a:t>, </a:t>
            </a:r>
            <a:r>
              <a:rPr lang="en-US" sz="3200" dirty="0" err="1"/>
              <a:t>ומטמיעים</a:t>
            </a:r>
            <a:r>
              <a:rPr lang="he-IL" sz="3200" dirty="0"/>
              <a:t> יכולות </a:t>
            </a:r>
            <a:r>
              <a:rPr lang="en-US" sz="3200" dirty="0"/>
              <a:t>AI</a:t>
            </a:r>
            <a:r>
              <a:rPr lang="he-IL" sz="3200" dirty="0"/>
              <a:t> </a:t>
            </a:r>
            <a:r>
              <a:rPr lang="en-US" sz="3200" dirty="0" err="1"/>
              <a:t>ביחידות</a:t>
            </a:r>
            <a:endParaRPr sz="3200" dirty="0"/>
          </a:p>
        </p:txBody>
      </p:sp>
      <p:sp>
        <p:nvSpPr>
          <p:cNvPr id="99" name="Google Shape;99;p7"/>
          <p:cNvSpPr txBox="1">
            <a:spLocks noGrp="1"/>
          </p:cNvSpPr>
          <p:nvPr>
            <p:ph type="body" idx="1"/>
          </p:nvPr>
        </p:nvSpPr>
        <p:spPr>
          <a:xfrm>
            <a:off x="1271490" y="1170250"/>
            <a:ext cx="5022300" cy="4951200"/>
          </a:xfrm>
          <a:prstGeom prst="rect">
            <a:avLst/>
          </a:prstGeom>
          <a:solidFill>
            <a:srgbClr val="FFFFFF">
              <a:alpha val="80000"/>
            </a:srgbClr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ציר חיצוני - עוקבים ומגיבים למגמות AI של הלקוחות והמתחרים</a:t>
            </a:r>
            <a:endParaRPr sz="3200"/>
          </a:p>
        </p:txBody>
      </p:sp>
      <p:pic>
        <p:nvPicPr>
          <p:cNvPr id="100" name="Google Shape;100;p7" descr="ציר טכנולוגי פנימי"/>
          <p:cNvPicPr preferRelativeResize="0"/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6504400" y="3406825"/>
            <a:ext cx="5022300" cy="271462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chemeClr val="lt1">
                <a:alpha val="0"/>
              </a:schemeClr>
            </a:outerShdw>
          </a:effectLst>
        </p:spPr>
      </p:pic>
      <p:pic>
        <p:nvPicPr>
          <p:cNvPr id="101" name="Google Shape;101;p7" descr="ציר חיצוני&#10;ללא טקסט ובפורמט 16:9"/>
          <p:cNvPicPr preferRelativeResize="0"/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1271500" y="3406825"/>
            <a:ext cx="5022300" cy="27146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2" name="Google Shape;102;p7"/>
          <p:cNvCxnSpPr/>
          <p:nvPr/>
        </p:nvCxnSpPr>
        <p:spPr>
          <a:xfrm rot="10800000">
            <a:off x="1271500" y="3390339"/>
            <a:ext cx="5022300" cy="0"/>
          </a:xfrm>
          <a:prstGeom prst="straightConnector1">
            <a:avLst/>
          </a:prstGeom>
          <a:noFill/>
          <a:ln w="152400" cap="flat" cmpd="sng">
            <a:solidFill>
              <a:srgbClr val="98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3" name="Google Shape;103;p7"/>
          <p:cNvCxnSpPr/>
          <p:nvPr/>
        </p:nvCxnSpPr>
        <p:spPr>
          <a:xfrm rot="10800000">
            <a:off x="6497794" y="3390339"/>
            <a:ext cx="5022300" cy="0"/>
          </a:xfrm>
          <a:prstGeom prst="straightConnector1">
            <a:avLst/>
          </a:prstGeom>
          <a:noFill/>
          <a:ln w="152400" cap="flat" cmpd="sng">
            <a:solidFill>
              <a:srgbClr val="38761D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"/>
          <p:cNvSpPr txBox="1">
            <a:spLocks noGrp="1"/>
          </p:cNvSpPr>
          <p:nvPr>
            <p:ph type="title"/>
          </p:nvPr>
        </p:nvSpPr>
        <p:spPr>
          <a:xfrm>
            <a:off x="866000" y="193228"/>
            <a:ext cx="10935300" cy="86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איך זה יעבוד: מרכז הפעלה</a:t>
            </a:r>
            <a:endParaRPr/>
          </a:p>
        </p:txBody>
      </p:sp>
      <p:sp>
        <p:nvSpPr>
          <p:cNvPr id="109" name="Google Shape;109;p8"/>
          <p:cNvSpPr txBox="1">
            <a:spLocks noGrp="1"/>
          </p:cNvSpPr>
          <p:nvPr>
            <p:ph type="body" idx="1"/>
          </p:nvPr>
        </p:nvSpPr>
        <p:spPr>
          <a:xfrm>
            <a:off x="9242085" y="3098887"/>
            <a:ext cx="2834100" cy="2913985"/>
          </a:xfrm>
          <a:prstGeom prst="rect">
            <a:avLst/>
          </a:prstGeom>
          <a:solidFill>
            <a:srgbClr val="FFFFFF">
              <a:alpha val="69620"/>
            </a:srgbClr>
          </a:solidFill>
        </p:spPr>
        <p:txBody>
          <a:bodyPr spcFirstLastPara="1" wrap="square" lIns="83125" tIns="83125" rIns="83125" bIns="831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dirty="0" err="1"/>
              <a:t>אנחנו</a:t>
            </a:r>
            <a:r>
              <a:rPr lang="en-US" sz="2600" dirty="0"/>
              <a:t> - </a:t>
            </a:r>
            <a:r>
              <a:rPr lang="en-US" sz="2600" dirty="0" err="1"/>
              <a:t>רואים</a:t>
            </a:r>
            <a:r>
              <a:rPr lang="en-US" sz="2600" dirty="0"/>
              <a:t> </a:t>
            </a:r>
            <a:r>
              <a:rPr lang="en-US" sz="2600" dirty="0" err="1"/>
              <a:t>את</a:t>
            </a:r>
            <a:r>
              <a:rPr lang="en-US" sz="2600" dirty="0"/>
              <a:t> </a:t>
            </a:r>
            <a:r>
              <a:rPr lang="en-US" sz="2600" dirty="0" err="1"/>
              <a:t>התמונה</a:t>
            </a:r>
            <a:r>
              <a:rPr lang="en-US" sz="2600" dirty="0"/>
              <a:t> </a:t>
            </a:r>
            <a:r>
              <a:rPr lang="en-US" sz="2600" dirty="0" err="1"/>
              <a:t>הרחבה</a:t>
            </a:r>
            <a:r>
              <a:rPr lang="en-US" sz="2600" dirty="0"/>
              <a:t>, </a:t>
            </a:r>
            <a:r>
              <a:rPr lang="en-US" sz="2600" dirty="0" err="1"/>
              <a:t>מתעדפים</a:t>
            </a:r>
            <a:r>
              <a:rPr lang="en-US" sz="2600" dirty="0"/>
              <a:t> </a:t>
            </a:r>
            <a:r>
              <a:rPr lang="en-US" sz="2600" dirty="0" err="1"/>
              <a:t>את</a:t>
            </a:r>
            <a:r>
              <a:rPr lang="en-US" sz="2600" dirty="0"/>
              <a:t> </a:t>
            </a:r>
            <a:r>
              <a:rPr lang="en-US" sz="2600" dirty="0" err="1"/>
              <a:t>מה</a:t>
            </a:r>
            <a:r>
              <a:rPr lang="en-US" sz="2600" dirty="0"/>
              <a:t> </a:t>
            </a:r>
            <a:r>
              <a:rPr lang="en-US" sz="2600" dirty="0" err="1"/>
              <a:t>שחשוב</a:t>
            </a:r>
            <a:r>
              <a:rPr lang="en-US" sz="2600" dirty="0"/>
              <a:t>, </a:t>
            </a:r>
            <a:r>
              <a:rPr lang="en-US" sz="2600" dirty="0" err="1"/>
              <a:t>מגדירים</a:t>
            </a:r>
            <a:r>
              <a:rPr lang="en-US" sz="2600" dirty="0"/>
              <a:t> </a:t>
            </a:r>
            <a:r>
              <a:rPr lang="en-US" sz="2600" dirty="0" err="1"/>
              <a:t>כיוון</a:t>
            </a:r>
            <a:r>
              <a:rPr lang="en-US" sz="2600" dirty="0"/>
              <a:t> </a:t>
            </a:r>
            <a:r>
              <a:rPr lang="en-US" sz="2600" dirty="0" err="1"/>
              <a:t>וכללים</a:t>
            </a:r>
            <a:r>
              <a:rPr lang="en-US" sz="2600" dirty="0"/>
              <a:t>, </a:t>
            </a:r>
            <a:r>
              <a:rPr lang="en-US" sz="2600" dirty="0" err="1"/>
              <a:t>תוך</a:t>
            </a:r>
            <a:r>
              <a:rPr lang="en-US" sz="2600" dirty="0"/>
              <a:t> </a:t>
            </a:r>
            <a:r>
              <a:rPr lang="en-US" sz="2600" dirty="0" err="1"/>
              <a:t>ניהול</a:t>
            </a:r>
            <a:r>
              <a:rPr lang="en-US" sz="2600" dirty="0"/>
              <a:t> </a:t>
            </a:r>
            <a:r>
              <a:rPr lang="en-US" sz="2600" dirty="0" err="1"/>
              <a:t>סיכונים</a:t>
            </a:r>
            <a:r>
              <a:rPr lang="en-US" sz="2600" dirty="0"/>
              <a:t> </a:t>
            </a:r>
            <a:r>
              <a:rPr lang="en-US" sz="2600" dirty="0" err="1"/>
              <a:t>ואחריות</a:t>
            </a:r>
            <a:endParaRPr sz="2600" dirty="0"/>
          </a:p>
        </p:txBody>
      </p:sp>
      <p:pic>
        <p:nvPicPr>
          <p:cNvPr id="110" name="Google Shape;110;p8" descr="רואים את התמונה הרחבה, מתעדפים את מה שחשוב, מגדירים כיוון וכללים, תוך ניהול סיכונים ואחריות&#10;ללא טקסט, פורמט 16: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42158" y="1503019"/>
            <a:ext cx="2833902" cy="157745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8"/>
          <p:cNvSpPr txBox="1">
            <a:spLocks noGrp="1"/>
          </p:cNvSpPr>
          <p:nvPr>
            <p:ph type="body" idx="1"/>
          </p:nvPr>
        </p:nvSpPr>
        <p:spPr>
          <a:xfrm>
            <a:off x="6199968" y="3098887"/>
            <a:ext cx="2834100" cy="2913985"/>
          </a:xfrm>
          <a:prstGeom prst="rect">
            <a:avLst/>
          </a:prstGeom>
          <a:solidFill>
            <a:srgbClr val="FFFFFF">
              <a:alpha val="69620"/>
            </a:srgbClr>
          </a:solidFill>
        </p:spPr>
        <p:txBody>
          <a:bodyPr spcFirstLastPara="1" wrap="square" lIns="83125" tIns="83125" rIns="83125" bIns="831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אתם - מביאים את הצרכים מהשטח ומובילים את ההטמעה אצלכם בפועל</a:t>
            </a:r>
            <a:endParaRPr sz="2600"/>
          </a:p>
        </p:txBody>
      </p:sp>
      <p:sp>
        <p:nvSpPr>
          <p:cNvPr id="112" name="Google Shape;112;p8"/>
          <p:cNvSpPr txBox="1">
            <a:spLocks noGrp="1"/>
          </p:cNvSpPr>
          <p:nvPr>
            <p:ph type="body" idx="1"/>
          </p:nvPr>
        </p:nvSpPr>
        <p:spPr>
          <a:xfrm>
            <a:off x="3157850" y="3098887"/>
            <a:ext cx="2834100" cy="2913985"/>
          </a:xfrm>
          <a:prstGeom prst="rect">
            <a:avLst/>
          </a:prstGeom>
          <a:solidFill>
            <a:srgbClr val="FFFFFF">
              <a:alpha val="69620"/>
            </a:srgbClr>
          </a:solidFill>
        </p:spPr>
        <p:txBody>
          <a:bodyPr spcFirstLastPara="1" wrap="square" lIns="83125" tIns="83125" rIns="83125" bIns="831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dirty="0" err="1"/>
              <a:t>החיבור</a:t>
            </a:r>
            <a:r>
              <a:rPr lang="en-US" sz="2600" dirty="0"/>
              <a:t> </a:t>
            </a:r>
            <a:r>
              <a:rPr lang="en-US" sz="2600" dirty="0" err="1"/>
              <a:t>הקריטי</a:t>
            </a:r>
            <a:r>
              <a:rPr lang="en-US" sz="2600" dirty="0"/>
              <a:t> - </a:t>
            </a:r>
            <a:r>
              <a:rPr lang="en-US" sz="2600" dirty="0" err="1"/>
              <a:t>אנחנו</a:t>
            </a:r>
            <a:r>
              <a:rPr lang="en-US" sz="2600" dirty="0"/>
              <a:t> </a:t>
            </a:r>
            <a:r>
              <a:rPr lang="en-US" sz="2600" dirty="0" err="1"/>
              <a:t>צריכים</a:t>
            </a:r>
            <a:r>
              <a:rPr lang="en-US" sz="2600" dirty="0"/>
              <a:t> </a:t>
            </a:r>
            <a:r>
              <a:rPr lang="en-US" sz="2600" dirty="0" err="1"/>
              <a:t>אתכם</a:t>
            </a:r>
            <a:r>
              <a:rPr lang="en-US" sz="2600" dirty="0"/>
              <a:t> </a:t>
            </a:r>
            <a:r>
              <a:rPr lang="en-US" sz="2600" dirty="0" err="1"/>
              <a:t>להצלחה</a:t>
            </a:r>
            <a:r>
              <a:rPr lang="en-US" sz="2600" dirty="0"/>
              <a:t>, </a:t>
            </a:r>
            <a:r>
              <a:rPr lang="en-US" sz="2600" dirty="0" err="1"/>
              <a:t>ואתם</a:t>
            </a:r>
            <a:r>
              <a:rPr lang="en-US" sz="2600" dirty="0"/>
              <a:t> </a:t>
            </a:r>
            <a:r>
              <a:rPr lang="en-US" sz="2600" dirty="0" err="1"/>
              <a:t>צריכים</a:t>
            </a:r>
            <a:r>
              <a:rPr lang="en-US" sz="2600" dirty="0"/>
              <a:t> </a:t>
            </a:r>
            <a:r>
              <a:rPr lang="en-US" sz="2600" dirty="0" err="1"/>
              <a:t>אותנו</a:t>
            </a:r>
            <a:r>
              <a:rPr lang="en-US" sz="2600" dirty="0"/>
              <a:t> </a:t>
            </a:r>
            <a:r>
              <a:rPr lang="en-US" sz="2600" dirty="0" err="1"/>
              <a:t>כדי</a:t>
            </a:r>
            <a:r>
              <a:rPr lang="en-US" sz="2600" dirty="0"/>
              <a:t> </a:t>
            </a:r>
            <a:r>
              <a:rPr lang="en-US" sz="2600" dirty="0" err="1"/>
              <a:t>להתקדם</a:t>
            </a:r>
            <a:r>
              <a:rPr lang="en-US" sz="2600" dirty="0"/>
              <a:t> </a:t>
            </a:r>
            <a:r>
              <a:rPr lang="en-US" sz="2600" dirty="0" err="1"/>
              <a:t>מהר</a:t>
            </a:r>
            <a:r>
              <a:rPr lang="he-IL" sz="2600" dirty="0"/>
              <a:t> ו</a:t>
            </a:r>
            <a:r>
              <a:rPr lang="en-US" sz="2600" dirty="0" err="1"/>
              <a:t>בלי</a:t>
            </a:r>
            <a:r>
              <a:rPr lang="en-US" sz="2600" dirty="0"/>
              <a:t> </a:t>
            </a:r>
            <a:r>
              <a:rPr lang="en-US" sz="2600" dirty="0" err="1"/>
              <a:t>להמציא</a:t>
            </a:r>
            <a:r>
              <a:rPr lang="en-US" sz="2600" dirty="0"/>
              <a:t> </a:t>
            </a:r>
            <a:r>
              <a:rPr lang="en-US" sz="2600" dirty="0" err="1"/>
              <a:t>את</a:t>
            </a:r>
            <a:r>
              <a:rPr lang="en-US" sz="2600" dirty="0"/>
              <a:t> </a:t>
            </a:r>
            <a:r>
              <a:rPr lang="en-US" sz="2600" dirty="0" err="1"/>
              <a:t>הגלגל</a:t>
            </a:r>
            <a:r>
              <a:rPr lang="en-US" sz="2600" dirty="0"/>
              <a:t> </a:t>
            </a:r>
            <a:r>
              <a:rPr lang="en-US" sz="2600" dirty="0" err="1"/>
              <a:t>מחדש</a:t>
            </a:r>
            <a:endParaRPr sz="2600" dirty="0"/>
          </a:p>
        </p:txBody>
      </p:sp>
      <p:sp>
        <p:nvSpPr>
          <p:cNvPr id="113" name="Google Shape;113;p8"/>
          <p:cNvSpPr txBox="1">
            <a:spLocks noGrp="1"/>
          </p:cNvSpPr>
          <p:nvPr>
            <p:ph type="body" idx="1"/>
          </p:nvPr>
        </p:nvSpPr>
        <p:spPr>
          <a:xfrm>
            <a:off x="115733" y="3098887"/>
            <a:ext cx="2834100" cy="2913985"/>
          </a:xfrm>
          <a:prstGeom prst="rect">
            <a:avLst/>
          </a:prstGeom>
          <a:solidFill>
            <a:srgbClr val="FFFFFF">
              <a:alpha val="69620"/>
            </a:srgbClr>
          </a:solidFill>
        </p:spPr>
        <p:txBody>
          <a:bodyPr spcFirstLastPara="1" wrap="square" lIns="83125" tIns="83125" rIns="83125" bIns="831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העצמת עובדים - בעזרת כלי AI הם יוכלו להתפנות לליבת העבודה ולא למשימות רוטיניות שחוזרות על עצמן</a:t>
            </a:r>
            <a:endParaRPr sz="260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sz="2600"/>
          </a:p>
        </p:txBody>
      </p:sp>
      <p:pic>
        <p:nvPicPr>
          <p:cNvPr id="114" name="Google Shape;114;p8" descr="אתם - מביאים את הצרכים מהשטח ומובילים את ההטמעה אצלכם בפועל&#10;ללא טקסט ובפורמט 16: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00183" y="1503023"/>
            <a:ext cx="2833892" cy="157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8" descr="החיבור הקריטי - אנחנו צריכים אתכם להצלחה, ואתם צריכים אותנו כדי להתקדם מהר  בלי להמציא את הגלגל מחדש.&#10;ללא טקסט ובפורמט 16: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58073" y="1503022"/>
            <a:ext cx="2833901" cy="157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8" descr="העצמת עובדים - בעזרת כלי AI הם יוכלו להתפנות לליבת העבודה ולא למשימות רוטיניות שחוזרות על עצמן&#10;ללא טקסט ובפורמט 16: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5725" y="1503021"/>
            <a:ext cx="2833901" cy="1577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9"/>
          <p:cNvSpPr txBox="1">
            <a:spLocks noGrp="1"/>
          </p:cNvSpPr>
          <p:nvPr>
            <p:ph type="title"/>
          </p:nvPr>
        </p:nvSpPr>
        <p:spPr>
          <a:xfrm>
            <a:off x="866000" y="193228"/>
            <a:ext cx="10935300" cy="86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9"/>
          <p:cNvSpPr txBox="1">
            <a:spLocks noGrp="1"/>
          </p:cNvSpPr>
          <p:nvPr>
            <p:ph type="body" idx="1"/>
          </p:nvPr>
        </p:nvSpPr>
        <p:spPr>
          <a:xfrm>
            <a:off x="866000" y="1170259"/>
            <a:ext cx="10935300" cy="561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3" name="Google Shape;123;p9" title="ailead.png"/>
          <p:cNvPicPr preferRelativeResize="0"/>
          <p:nvPr/>
        </p:nvPicPr>
        <p:blipFill rotWithShape="1">
          <a:blip r:embed="rId3">
            <a:alphaModFix/>
          </a:blip>
          <a:srcRect r="5329" b="6933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0"/>
          <p:cNvSpPr txBox="1">
            <a:spLocks noGrp="1"/>
          </p:cNvSpPr>
          <p:nvPr>
            <p:ph type="title"/>
          </p:nvPr>
        </p:nvSpPr>
        <p:spPr>
          <a:xfrm>
            <a:off x="866000" y="193228"/>
            <a:ext cx="10935300" cy="86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10"/>
          <p:cNvSpPr txBox="1">
            <a:spLocks noGrp="1"/>
          </p:cNvSpPr>
          <p:nvPr>
            <p:ph type="body" idx="1"/>
          </p:nvPr>
        </p:nvSpPr>
        <p:spPr>
          <a:xfrm>
            <a:off x="866000" y="1170259"/>
            <a:ext cx="10935300" cy="561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0" name="Google Shape;130;p10" title="ailead.png"/>
          <p:cNvPicPr preferRelativeResize="0"/>
          <p:nvPr/>
        </p:nvPicPr>
        <p:blipFill rotWithShape="1">
          <a:blip r:embed="rId3">
            <a:alphaModFix/>
          </a:blip>
          <a:srcRect r="5329" b="6933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0"/>
          <p:cNvSpPr/>
          <p:nvPr/>
        </p:nvSpPr>
        <p:spPr>
          <a:xfrm>
            <a:off x="6173976" y="1057525"/>
            <a:ext cx="5678945" cy="5617800"/>
          </a:xfrm>
          <a:prstGeom prst="roundRect">
            <a:avLst>
              <a:gd name="adj" fmla="val 16667"/>
            </a:avLst>
          </a:prstGeom>
          <a:solidFill>
            <a:srgbClr val="FFFFFF">
              <a:alpha val="6962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l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</p:txBody>
      </p:sp>
      <p:sp>
        <p:nvSpPr>
          <p:cNvPr id="132" name="Google Shape;132;p10"/>
          <p:cNvSpPr txBox="1">
            <a:spLocks noGrp="1"/>
          </p:cNvSpPr>
          <p:nvPr>
            <p:ph type="title"/>
          </p:nvPr>
        </p:nvSpPr>
        <p:spPr>
          <a:xfrm>
            <a:off x="866000" y="193228"/>
            <a:ext cx="10935300" cy="86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תפקיד ותחומי אחריות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33" name="Google Shape;133;p10"/>
          <p:cNvSpPr/>
          <p:nvPr/>
        </p:nvSpPr>
        <p:spPr>
          <a:xfrm>
            <a:off x="368087" y="1057525"/>
            <a:ext cx="5649937" cy="5617800"/>
          </a:xfrm>
          <a:prstGeom prst="roundRect">
            <a:avLst>
              <a:gd name="adj" fmla="val 16667"/>
            </a:avLst>
          </a:prstGeom>
          <a:solidFill>
            <a:srgbClr val="FFFFFF">
              <a:alpha val="6962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l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</p:txBody>
      </p:sp>
      <p:sp>
        <p:nvSpPr>
          <p:cNvPr id="134" name="Google Shape;134;p10"/>
          <p:cNvSpPr txBox="1"/>
          <p:nvPr/>
        </p:nvSpPr>
        <p:spPr>
          <a:xfrm>
            <a:off x="6870725" y="1377325"/>
            <a:ext cx="4414500" cy="500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1910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3000"/>
              <a:buChar char="★"/>
            </a:pPr>
            <a:r>
              <a:rPr lang="en-US" sz="3000" dirty="0" err="1">
                <a:solidFill>
                  <a:srgbClr val="073763"/>
                </a:solidFill>
              </a:rPr>
              <a:t>המפתח</a:t>
            </a:r>
            <a:r>
              <a:rPr lang="en-US" sz="3000" dirty="0">
                <a:solidFill>
                  <a:srgbClr val="073763"/>
                </a:solidFill>
              </a:rPr>
              <a:t> </a:t>
            </a:r>
            <a:r>
              <a:rPr lang="en-US" sz="3000" dirty="0" err="1">
                <a:solidFill>
                  <a:srgbClr val="073763"/>
                </a:solidFill>
              </a:rPr>
              <a:t>להצלחה</a:t>
            </a:r>
            <a:r>
              <a:rPr lang="en-US" sz="3000" dirty="0">
                <a:solidFill>
                  <a:srgbClr val="073763"/>
                </a:solidFill>
              </a:rPr>
              <a:t> </a:t>
            </a:r>
            <a:r>
              <a:rPr lang="en-US" sz="3000" dirty="0" err="1">
                <a:solidFill>
                  <a:srgbClr val="073763"/>
                </a:solidFill>
              </a:rPr>
              <a:t>של</a:t>
            </a:r>
            <a:r>
              <a:rPr lang="en-US" sz="3000" dirty="0">
                <a:solidFill>
                  <a:srgbClr val="073763"/>
                </a:solidFill>
              </a:rPr>
              <a:t> </a:t>
            </a:r>
            <a:r>
              <a:rPr lang="en-US" sz="3000" dirty="0" err="1">
                <a:solidFill>
                  <a:srgbClr val="073763"/>
                </a:solidFill>
              </a:rPr>
              <a:t>החטיבות</a:t>
            </a:r>
            <a:endParaRPr sz="3000" dirty="0">
              <a:solidFill>
                <a:srgbClr val="073763"/>
              </a:solidFill>
            </a:endParaRPr>
          </a:p>
          <a:p>
            <a:pPr marL="457200" lvl="0" indent="-41910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3000"/>
              <a:buChar char="★"/>
            </a:pPr>
            <a:r>
              <a:rPr lang="en-US" sz="3000" dirty="0" err="1">
                <a:solidFill>
                  <a:srgbClr val="073763"/>
                </a:solidFill>
              </a:rPr>
              <a:t>לא</a:t>
            </a:r>
            <a:r>
              <a:rPr lang="en-US" sz="3000" dirty="0">
                <a:solidFill>
                  <a:srgbClr val="073763"/>
                </a:solidFill>
              </a:rPr>
              <a:t> </a:t>
            </a:r>
            <a:r>
              <a:rPr lang="en-US" sz="3000" dirty="0" err="1">
                <a:solidFill>
                  <a:srgbClr val="073763"/>
                </a:solidFill>
              </a:rPr>
              <a:t>תפקיד</a:t>
            </a:r>
            <a:r>
              <a:rPr lang="en-US" sz="3000" dirty="0">
                <a:solidFill>
                  <a:srgbClr val="073763"/>
                </a:solidFill>
              </a:rPr>
              <a:t> </a:t>
            </a:r>
            <a:r>
              <a:rPr lang="en-US" sz="3000" dirty="0" err="1">
                <a:solidFill>
                  <a:srgbClr val="073763"/>
                </a:solidFill>
              </a:rPr>
              <a:t>טכני</a:t>
            </a:r>
            <a:r>
              <a:rPr lang="en-US" sz="3000" dirty="0">
                <a:solidFill>
                  <a:srgbClr val="073763"/>
                </a:solidFill>
              </a:rPr>
              <a:t> </a:t>
            </a:r>
            <a:r>
              <a:rPr lang="en-US" sz="3000" dirty="0" err="1">
                <a:solidFill>
                  <a:srgbClr val="073763"/>
                </a:solidFill>
              </a:rPr>
              <a:t>אלא</a:t>
            </a:r>
            <a:r>
              <a:rPr lang="en-US" sz="3000" dirty="0">
                <a:solidFill>
                  <a:srgbClr val="073763"/>
                </a:solidFill>
              </a:rPr>
              <a:t> </a:t>
            </a:r>
            <a:r>
              <a:rPr lang="en-US" sz="3000" dirty="0" err="1">
                <a:solidFill>
                  <a:srgbClr val="073763"/>
                </a:solidFill>
              </a:rPr>
              <a:t>סוכן</a:t>
            </a:r>
            <a:r>
              <a:rPr lang="en-US" sz="3000" dirty="0">
                <a:solidFill>
                  <a:srgbClr val="073763"/>
                </a:solidFill>
              </a:rPr>
              <a:t> </a:t>
            </a:r>
            <a:r>
              <a:rPr lang="en-US" sz="3000" dirty="0" err="1">
                <a:solidFill>
                  <a:srgbClr val="073763"/>
                </a:solidFill>
              </a:rPr>
              <a:t>שינוי</a:t>
            </a:r>
            <a:r>
              <a:rPr lang="en-US" sz="3000" dirty="0">
                <a:solidFill>
                  <a:srgbClr val="073763"/>
                </a:solidFill>
              </a:rPr>
              <a:t> </a:t>
            </a:r>
            <a:r>
              <a:rPr lang="en-US" sz="3000" dirty="0" err="1">
                <a:solidFill>
                  <a:srgbClr val="073763"/>
                </a:solidFill>
              </a:rPr>
              <a:t>עסקי-טכנולוגי</a:t>
            </a:r>
            <a:endParaRPr sz="3000" dirty="0">
              <a:solidFill>
                <a:srgbClr val="073763"/>
              </a:solidFill>
            </a:endParaRPr>
          </a:p>
          <a:p>
            <a:pPr marL="457200" lvl="0" indent="-41910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3000"/>
              <a:buChar char="★"/>
            </a:pPr>
            <a:r>
              <a:rPr lang="en-US" sz="3000" dirty="0" err="1">
                <a:solidFill>
                  <a:srgbClr val="073763"/>
                </a:solidFill>
              </a:rPr>
              <a:t>גורם</a:t>
            </a:r>
            <a:r>
              <a:rPr lang="en-US" sz="3000" dirty="0">
                <a:solidFill>
                  <a:srgbClr val="073763"/>
                </a:solidFill>
              </a:rPr>
              <a:t> </a:t>
            </a:r>
            <a:r>
              <a:rPr lang="en-US" sz="3000" dirty="0" err="1">
                <a:solidFill>
                  <a:srgbClr val="073763"/>
                </a:solidFill>
              </a:rPr>
              <a:t>מפתח</a:t>
            </a:r>
            <a:endParaRPr sz="3000" dirty="0">
              <a:solidFill>
                <a:srgbClr val="073763"/>
              </a:solidFill>
            </a:endParaRPr>
          </a:p>
          <a:p>
            <a:pPr marL="457200" lvl="0" indent="-41910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3000"/>
              <a:buChar char="★"/>
            </a:pPr>
            <a:r>
              <a:rPr lang="en-US" sz="3000" dirty="0" err="1">
                <a:solidFill>
                  <a:srgbClr val="073763"/>
                </a:solidFill>
              </a:rPr>
              <a:t>הגשר</a:t>
            </a:r>
            <a:r>
              <a:rPr lang="en-US" sz="3000" dirty="0">
                <a:solidFill>
                  <a:srgbClr val="073763"/>
                </a:solidFill>
              </a:rPr>
              <a:t> </a:t>
            </a:r>
            <a:r>
              <a:rPr lang="en-US" sz="3000" dirty="0" err="1">
                <a:solidFill>
                  <a:srgbClr val="073763"/>
                </a:solidFill>
              </a:rPr>
              <a:t>בין</a:t>
            </a:r>
            <a:r>
              <a:rPr lang="en-US" sz="3000" dirty="0">
                <a:solidFill>
                  <a:srgbClr val="073763"/>
                </a:solidFill>
              </a:rPr>
              <a:t> </a:t>
            </a:r>
            <a:r>
              <a:rPr lang="en-US" sz="3000" dirty="0" err="1">
                <a:solidFill>
                  <a:srgbClr val="073763"/>
                </a:solidFill>
              </a:rPr>
              <a:t>היעדים</a:t>
            </a:r>
            <a:r>
              <a:rPr lang="en-US" sz="3000" dirty="0">
                <a:solidFill>
                  <a:srgbClr val="073763"/>
                </a:solidFill>
              </a:rPr>
              <a:t> </a:t>
            </a:r>
            <a:r>
              <a:rPr lang="en-US" sz="3000" dirty="0" err="1">
                <a:solidFill>
                  <a:srgbClr val="073763"/>
                </a:solidFill>
              </a:rPr>
              <a:t>העסקיים</a:t>
            </a:r>
            <a:r>
              <a:rPr lang="en-US" sz="3000" dirty="0">
                <a:solidFill>
                  <a:srgbClr val="073763"/>
                </a:solidFill>
              </a:rPr>
              <a:t> </a:t>
            </a:r>
            <a:r>
              <a:rPr lang="en-US" sz="3000" dirty="0" err="1">
                <a:solidFill>
                  <a:srgbClr val="073763"/>
                </a:solidFill>
              </a:rPr>
              <a:t>של</a:t>
            </a:r>
            <a:r>
              <a:rPr lang="en-US" sz="3000" dirty="0">
                <a:solidFill>
                  <a:srgbClr val="073763"/>
                </a:solidFill>
              </a:rPr>
              <a:t> </a:t>
            </a:r>
            <a:r>
              <a:rPr lang="en-US" sz="3000" dirty="0" err="1">
                <a:solidFill>
                  <a:srgbClr val="073763"/>
                </a:solidFill>
              </a:rPr>
              <a:t>החטיבה</a:t>
            </a:r>
            <a:r>
              <a:rPr lang="en-US" sz="3000" dirty="0">
                <a:solidFill>
                  <a:srgbClr val="073763"/>
                </a:solidFill>
              </a:rPr>
              <a:t> </a:t>
            </a:r>
            <a:r>
              <a:rPr lang="en-US" sz="3000" dirty="0" err="1">
                <a:solidFill>
                  <a:srgbClr val="073763"/>
                </a:solidFill>
              </a:rPr>
              <a:t>ליכולות</a:t>
            </a:r>
            <a:r>
              <a:rPr lang="en-US" sz="3000" dirty="0">
                <a:solidFill>
                  <a:srgbClr val="073763"/>
                </a:solidFill>
              </a:rPr>
              <a:t> </a:t>
            </a:r>
            <a:r>
              <a:rPr lang="en-US" sz="3000" dirty="0" err="1">
                <a:solidFill>
                  <a:srgbClr val="073763"/>
                </a:solidFill>
              </a:rPr>
              <a:t>הטכנולוגיות</a:t>
            </a:r>
            <a:r>
              <a:rPr lang="en-US" sz="3000" dirty="0">
                <a:solidFill>
                  <a:srgbClr val="073763"/>
                </a:solidFill>
              </a:rPr>
              <a:t> </a:t>
            </a:r>
            <a:r>
              <a:rPr lang="en-US" sz="3000" dirty="0" err="1">
                <a:solidFill>
                  <a:srgbClr val="073763"/>
                </a:solidFill>
              </a:rPr>
              <a:t>של</a:t>
            </a:r>
            <a:r>
              <a:rPr lang="en-US" sz="3000" dirty="0">
                <a:solidFill>
                  <a:srgbClr val="073763"/>
                </a:solidFill>
              </a:rPr>
              <a:t> </a:t>
            </a:r>
            <a:r>
              <a:rPr lang="en-US" sz="3000" dirty="0" err="1">
                <a:solidFill>
                  <a:srgbClr val="073763"/>
                </a:solidFill>
              </a:rPr>
              <a:t>מרכז</a:t>
            </a:r>
            <a:r>
              <a:rPr lang="en-US" sz="3000" dirty="0">
                <a:solidFill>
                  <a:srgbClr val="073763"/>
                </a:solidFill>
              </a:rPr>
              <a:t> </a:t>
            </a:r>
            <a:r>
              <a:rPr lang="en-US" sz="3000" dirty="0" err="1">
                <a:solidFill>
                  <a:srgbClr val="073763"/>
                </a:solidFill>
              </a:rPr>
              <a:t>ה</a:t>
            </a:r>
            <a:r>
              <a:rPr lang="he-IL" sz="3000" dirty="0">
                <a:solidFill>
                  <a:srgbClr val="073763"/>
                </a:solidFill>
              </a:rPr>
              <a:t> - </a:t>
            </a:r>
            <a:r>
              <a:rPr lang="en-US" sz="3000" dirty="0">
                <a:solidFill>
                  <a:srgbClr val="073763"/>
                </a:solidFill>
              </a:rPr>
              <a:t>AI</a:t>
            </a:r>
            <a:endParaRPr sz="3000" dirty="0">
              <a:solidFill>
                <a:srgbClr val="073763"/>
              </a:solidFill>
            </a:endParaRPr>
          </a:p>
        </p:txBody>
      </p:sp>
      <p:sp>
        <p:nvSpPr>
          <p:cNvPr id="135" name="Google Shape;135;p10"/>
          <p:cNvSpPr txBox="1"/>
          <p:nvPr/>
        </p:nvSpPr>
        <p:spPr>
          <a:xfrm>
            <a:off x="879750" y="1478800"/>
            <a:ext cx="4414500" cy="500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1910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3000"/>
              <a:buChar char="★"/>
            </a:pPr>
            <a:r>
              <a:rPr lang="en-US" sz="3000" dirty="0" err="1">
                <a:solidFill>
                  <a:srgbClr val="073763"/>
                </a:solidFill>
              </a:rPr>
              <a:t>איתור</a:t>
            </a:r>
            <a:r>
              <a:rPr lang="en-US" sz="3000" dirty="0">
                <a:solidFill>
                  <a:srgbClr val="073763"/>
                </a:solidFill>
              </a:rPr>
              <a:t> </a:t>
            </a:r>
            <a:r>
              <a:rPr lang="en-US" sz="3000" dirty="0" err="1">
                <a:solidFill>
                  <a:srgbClr val="073763"/>
                </a:solidFill>
              </a:rPr>
              <a:t>כאבים</a:t>
            </a:r>
            <a:r>
              <a:rPr lang="en-US" sz="3000" dirty="0">
                <a:solidFill>
                  <a:srgbClr val="073763"/>
                </a:solidFill>
              </a:rPr>
              <a:t> </a:t>
            </a:r>
            <a:r>
              <a:rPr lang="en-US" sz="3000" dirty="0" err="1">
                <a:solidFill>
                  <a:srgbClr val="073763"/>
                </a:solidFill>
              </a:rPr>
              <a:t>עסקיים</a:t>
            </a:r>
            <a:r>
              <a:rPr lang="en-US" sz="3000" dirty="0">
                <a:solidFill>
                  <a:srgbClr val="073763"/>
                </a:solidFill>
              </a:rPr>
              <a:t> </a:t>
            </a:r>
            <a:r>
              <a:rPr lang="en-US" sz="3000" dirty="0" err="1">
                <a:solidFill>
                  <a:srgbClr val="073763"/>
                </a:solidFill>
              </a:rPr>
              <a:t>בחטיבה</a:t>
            </a:r>
            <a:r>
              <a:rPr lang="he-IL" sz="3000" dirty="0">
                <a:solidFill>
                  <a:srgbClr val="073763"/>
                </a:solidFill>
              </a:rPr>
              <a:t> ש-</a:t>
            </a:r>
            <a:r>
              <a:rPr lang="en-US" sz="3000" dirty="0">
                <a:solidFill>
                  <a:srgbClr val="073763"/>
                </a:solidFill>
              </a:rPr>
              <a:t>AI</a:t>
            </a:r>
            <a:r>
              <a:rPr lang="he-IL" sz="3000" dirty="0">
                <a:solidFill>
                  <a:srgbClr val="073763"/>
                </a:solidFill>
              </a:rPr>
              <a:t> </a:t>
            </a:r>
            <a:r>
              <a:rPr lang="en-US" sz="3000" dirty="0" err="1">
                <a:solidFill>
                  <a:srgbClr val="073763"/>
                </a:solidFill>
              </a:rPr>
              <a:t>יכול</a:t>
            </a:r>
            <a:r>
              <a:rPr lang="en-US" sz="3000" dirty="0">
                <a:solidFill>
                  <a:srgbClr val="073763"/>
                </a:solidFill>
              </a:rPr>
              <a:t> </a:t>
            </a:r>
            <a:r>
              <a:rPr lang="en-US" sz="3000" dirty="0" err="1">
                <a:solidFill>
                  <a:srgbClr val="073763"/>
                </a:solidFill>
              </a:rPr>
              <a:t>לפתור</a:t>
            </a:r>
            <a:endParaRPr sz="3000" dirty="0">
              <a:solidFill>
                <a:srgbClr val="073763"/>
              </a:solidFill>
            </a:endParaRPr>
          </a:p>
          <a:p>
            <a:pPr marL="457200" lvl="0" indent="-41910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3000"/>
              <a:buChar char="★"/>
            </a:pPr>
            <a:r>
              <a:rPr lang="en-US" sz="3000" dirty="0" err="1">
                <a:solidFill>
                  <a:srgbClr val="073763"/>
                </a:solidFill>
              </a:rPr>
              <a:t>הובלת</a:t>
            </a:r>
            <a:r>
              <a:rPr lang="en-US" sz="3000" dirty="0">
                <a:solidFill>
                  <a:srgbClr val="073763"/>
                </a:solidFill>
              </a:rPr>
              <a:t> </a:t>
            </a:r>
            <a:r>
              <a:rPr lang="en-US" sz="3000" dirty="0" err="1">
                <a:solidFill>
                  <a:srgbClr val="073763"/>
                </a:solidFill>
              </a:rPr>
              <a:t>אימוץ</a:t>
            </a:r>
            <a:r>
              <a:rPr lang="en-US" sz="3000" dirty="0">
                <a:solidFill>
                  <a:srgbClr val="073763"/>
                </a:solidFill>
              </a:rPr>
              <a:t> </a:t>
            </a:r>
            <a:r>
              <a:rPr lang="en-US" sz="3000" dirty="0" err="1">
                <a:solidFill>
                  <a:srgbClr val="073763"/>
                </a:solidFill>
              </a:rPr>
              <a:t>הכלים</a:t>
            </a:r>
            <a:r>
              <a:rPr lang="en-US" sz="3000" dirty="0">
                <a:solidFill>
                  <a:srgbClr val="073763"/>
                </a:solidFill>
              </a:rPr>
              <a:t> </a:t>
            </a:r>
            <a:r>
              <a:rPr lang="en-US" sz="3000" dirty="0" err="1">
                <a:solidFill>
                  <a:srgbClr val="073763"/>
                </a:solidFill>
              </a:rPr>
              <a:t>והתהליכים</a:t>
            </a:r>
            <a:r>
              <a:rPr lang="en-US" sz="3000" dirty="0">
                <a:solidFill>
                  <a:srgbClr val="073763"/>
                </a:solidFill>
              </a:rPr>
              <a:t> </a:t>
            </a:r>
            <a:r>
              <a:rPr lang="en-US" sz="3000" dirty="0" err="1">
                <a:solidFill>
                  <a:srgbClr val="073763"/>
                </a:solidFill>
              </a:rPr>
              <a:t>החדשים</a:t>
            </a:r>
            <a:r>
              <a:rPr lang="en-US" sz="3000" dirty="0">
                <a:solidFill>
                  <a:srgbClr val="073763"/>
                </a:solidFill>
              </a:rPr>
              <a:t> </a:t>
            </a:r>
            <a:r>
              <a:rPr lang="en-US" sz="3000" dirty="0" err="1">
                <a:solidFill>
                  <a:srgbClr val="073763"/>
                </a:solidFill>
              </a:rPr>
              <a:t>אצל</a:t>
            </a:r>
            <a:r>
              <a:rPr lang="en-US" sz="3000" dirty="0">
                <a:solidFill>
                  <a:srgbClr val="073763"/>
                </a:solidFill>
              </a:rPr>
              <a:t> </a:t>
            </a:r>
            <a:r>
              <a:rPr lang="en-US" sz="3000" dirty="0" err="1">
                <a:solidFill>
                  <a:srgbClr val="073763"/>
                </a:solidFill>
              </a:rPr>
              <a:t>עובדי</a:t>
            </a:r>
            <a:r>
              <a:rPr lang="en-US" sz="3000" dirty="0">
                <a:solidFill>
                  <a:srgbClr val="073763"/>
                </a:solidFill>
              </a:rPr>
              <a:t> </a:t>
            </a:r>
            <a:r>
              <a:rPr lang="en-US" sz="3000" dirty="0" err="1">
                <a:solidFill>
                  <a:srgbClr val="073763"/>
                </a:solidFill>
              </a:rPr>
              <a:t>החטיבה</a:t>
            </a:r>
            <a:endParaRPr sz="3000" dirty="0">
              <a:solidFill>
                <a:srgbClr val="073763"/>
              </a:solidFill>
            </a:endParaRPr>
          </a:p>
          <a:p>
            <a:pPr marL="457200" lvl="0" indent="-41910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3000"/>
              <a:buChar char="★"/>
            </a:pPr>
            <a:r>
              <a:rPr lang="en-US" sz="3000" dirty="0" err="1">
                <a:solidFill>
                  <a:srgbClr val="073763"/>
                </a:solidFill>
              </a:rPr>
              <a:t>חברות</a:t>
            </a:r>
            <a:r>
              <a:rPr lang="en-US" sz="3000" dirty="0">
                <a:solidFill>
                  <a:srgbClr val="073763"/>
                </a:solidFill>
              </a:rPr>
              <a:t> </a:t>
            </a:r>
            <a:r>
              <a:rPr lang="he-IL" sz="3000" dirty="0">
                <a:solidFill>
                  <a:srgbClr val="073763"/>
                </a:solidFill>
              </a:rPr>
              <a:t>בפורום </a:t>
            </a:r>
            <a:r>
              <a:rPr lang="en-US" sz="3000" dirty="0">
                <a:solidFill>
                  <a:srgbClr val="073763"/>
                </a:solidFill>
              </a:rPr>
              <a:t>AI Leads</a:t>
            </a:r>
            <a:r>
              <a:rPr lang="he-IL" sz="3000" dirty="0">
                <a:solidFill>
                  <a:srgbClr val="073763"/>
                </a:solidFill>
              </a:rPr>
              <a:t> </a:t>
            </a:r>
            <a:r>
              <a:rPr lang="en-US" sz="3000" dirty="0" err="1">
                <a:solidFill>
                  <a:srgbClr val="073763"/>
                </a:solidFill>
              </a:rPr>
              <a:t>לסינרגיה</a:t>
            </a:r>
            <a:r>
              <a:rPr lang="en-US" sz="3000" dirty="0">
                <a:solidFill>
                  <a:srgbClr val="073763"/>
                </a:solidFill>
              </a:rPr>
              <a:t> </a:t>
            </a:r>
            <a:r>
              <a:rPr lang="en-US" sz="3000" dirty="0" err="1">
                <a:solidFill>
                  <a:srgbClr val="073763"/>
                </a:solidFill>
              </a:rPr>
              <a:t>ולמידה</a:t>
            </a:r>
            <a:r>
              <a:rPr lang="en-US" sz="3000" dirty="0">
                <a:solidFill>
                  <a:srgbClr val="073763"/>
                </a:solidFill>
              </a:rPr>
              <a:t> </a:t>
            </a:r>
            <a:r>
              <a:rPr lang="en-US" sz="3000" dirty="0" err="1">
                <a:solidFill>
                  <a:srgbClr val="073763"/>
                </a:solidFill>
              </a:rPr>
              <a:t>רוחבית</a:t>
            </a:r>
            <a:endParaRPr sz="3000" dirty="0">
              <a:solidFill>
                <a:srgbClr val="073763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5"/>
          <p:cNvSpPr txBox="1">
            <a:spLocks noGrp="1"/>
          </p:cNvSpPr>
          <p:nvPr>
            <p:ph type="title"/>
          </p:nvPr>
        </p:nvSpPr>
        <p:spPr>
          <a:xfrm>
            <a:off x="866000" y="193228"/>
            <a:ext cx="10935300" cy="86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5"/>
          <p:cNvSpPr txBox="1">
            <a:spLocks noGrp="1"/>
          </p:cNvSpPr>
          <p:nvPr>
            <p:ph type="body" idx="1"/>
          </p:nvPr>
        </p:nvSpPr>
        <p:spPr>
          <a:xfrm>
            <a:off x="866000" y="1170259"/>
            <a:ext cx="10935300" cy="561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3" name="Google Shape;173;p15" descr="תמונה שמשלבת את מהפכת החשמל, הטלפון, האינטרנט והטלפון הנייד ללא טקסט ובפורמט 16: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5"/>
          <p:cNvSpPr/>
          <p:nvPr/>
        </p:nvSpPr>
        <p:spPr>
          <a:xfrm>
            <a:off x="168875" y="193225"/>
            <a:ext cx="3381300" cy="1262100"/>
          </a:xfrm>
          <a:prstGeom prst="roundRect">
            <a:avLst>
              <a:gd name="adj" fmla="val 16667"/>
            </a:avLst>
          </a:prstGeom>
          <a:solidFill>
            <a:srgbClr val="FFFFFF">
              <a:alpha val="8797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500">
                <a:solidFill>
                  <a:srgbClr val="073763"/>
                </a:solidFill>
              </a:rPr>
              <a:t>תודה</a:t>
            </a:r>
            <a:endParaRPr sz="8500">
              <a:solidFill>
                <a:srgbClr val="073763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פורום 100 בנק לאוי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BDC042D-5319-2444-9B0E-3E4D48255B64}">
  <we:reference id="wa200010215" version="2.0.0.0" store="en-US" storeType="OMEX"/>
  <we:alternateReferences>
    <we:reference id="WA200010215" version="2.0.0.0" store="" storeType="OMEX"/>
  </we:alternateReferences>
  <we:properties>
    <we:property name="bps.codex_control.document_id" value="&quot;33168c24-d201-4938-8e15-17539629dff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294</Words>
  <Application>Microsoft Macintosh PowerPoint</Application>
  <PresentationFormat>Widescreen</PresentationFormat>
  <Paragraphs>46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Arial Narrow</vt:lpstr>
      <vt:lpstr>פורום 100 בנק לאוי</vt:lpstr>
      <vt:lpstr>Office Theme</vt:lpstr>
      <vt:lpstr>PowerPoint Presentation</vt:lpstr>
      <vt:lpstr>למה עכשיו</vt:lpstr>
      <vt:lpstr>ואם לא עכשיו</vt:lpstr>
      <vt:lpstr>למה מרכז AI</vt:lpstr>
      <vt:lpstr>לבנות מבפנים ולהתאים לבחוץ</vt:lpstr>
      <vt:lpstr>איך זה יעבוד: מרכז הפעלה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Amir Rosen</cp:lastModifiedBy>
  <cp:revision>5</cp:revision>
  <dcterms:modified xsi:type="dcterms:W3CDTF">2026-09-13T09:48:31Z</dcterms:modified>
</cp:coreProperties>
</file>